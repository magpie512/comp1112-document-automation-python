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85" r:id="rId4"/>
    <p:sldId id="258" r:id="rId5"/>
    <p:sldId id="282" r:id="rId6"/>
    <p:sldId id="286" r:id="rId7"/>
    <p:sldId id="287" r:id="rId8"/>
    <p:sldId id="260" r:id="rId9"/>
    <p:sldId id="261" r:id="rId10"/>
    <p:sldId id="264" r:id="rId11"/>
    <p:sldId id="265" r:id="rId12"/>
    <p:sldId id="266" r:id="rId13"/>
    <p:sldId id="267" r:id="rId14"/>
    <p:sldId id="268" r:id="rId15"/>
    <p:sldId id="274" r:id="rId16"/>
    <p:sldId id="275" r:id="rId17"/>
    <p:sldId id="276" r:id="rId18"/>
    <p:sldId id="277" r:id="rId19"/>
    <p:sldId id="279" r:id="rId20"/>
    <p:sldId id="272" r:id="rId21"/>
    <p:sldId id="273" r:id="rId22"/>
    <p:sldId id="283" r:id="rId23"/>
    <p:sldId id="284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29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287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586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91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4330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5006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088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2477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776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48B67EAE-8321-45C8-8ED7-D324A279D739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204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531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7EAE-8321-45C8-8ED7-D324A279D739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66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67EAE-8321-45C8-8ED7-D324A279D739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A20FA45-D5AB-4AF7-9437-5B009031659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8085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wayne.brown@georgiancollege.ca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D095B41-7312-4603-9F0F-93387C353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utoradiogram on white paper">
            <a:extLst>
              <a:ext uri="{FF2B5EF4-FFF2-40B4-BE49-F238E27FC236}">
                <a16:creationId xmlns:a16="http://schemas.microsoft.com/office/drawing/2014/main" id="{346B8280-0B23-6A69-9815-0786D77972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l="2"/>
          <a:stretch/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042C936-444C-4F0D-9737-291EAFE1E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4" y="802298"/>
            <a:ext cx="6477805" cy="2541431"/>
          </a:xfrm>
        </p:spPr>
        <p:txBody>
          <a:bodyPr>
            <a:normAutofit/>
          </a:bodyPr>
          <a:lstStyle/>
          <a:p>
            <a:r>
              <a:rPr lang="en-CA" sz="4200"/>
              <a:t>COMP 1112 </a:t>
            </a:r>
            <a:br>
              <a:rPr lang="en-CA" sz="4200"/>
            </a:br>
            <a:r>
              <a:rPr lang="en-CA" sz="4200"/>
              <a:t>Document Automation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3531204"/>
            <a:ext cx="6477804" cy="977621"/>
          </a:xfrm>
        </p:spPr>
        <p:txBody>
          <a:bodyPr>
            <a:normAutofit/>
          </a:bodyPr>
          <a:lstStyle/>
          <a:p>
            <a:r>
              <a:rPr lang="en-CA"/>
              <a:t>Lecture #3</a:t>
            </a:r>
          </a:p>
          <a:p>
            <a:r>
              <a:rPr lang="en-CA"/>
              <a:t>Functions , Import Statements, misc. items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61C4D9F-F4AF-4ED2-9310-56EB2E19C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3335" y="3528543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19FDB25-3050-4009-9806-3000DDD1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063EF0F-7BC0-4CFB-AB98-20A8DD91D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399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EFDA1A-2A01-4C29-A5D0-AE6F050D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Glasses on top of a book">
            <a:extLst>
              <a:ext uri="{FF2B5EF4-FFF2-40B4-BE49-F238E27FC236}">
                <a16:creationId xmlns:a16="http://schemas.microsoft.com/office/drawing/2014/main" id="{1AC2FE40-E729-691C-DD87-7A2995791F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r="11668" b="-1"/>
          <a:stretch/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FD20E5-30AF-47B9-9256-2E8E904C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CA" dirty="0"/>
              <a:t>Strategies of a successful student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9D3810-B86F-4009-84EC-DE0FEABD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015732"/>
            <a:ext cx="7202456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CA" sz="1000" b="1"/>
              <a:t>BEFORE THE LECTURE</a:t>
            </a:r>
          </a:p>
          <a:p>
            <a:pPr lvl="1">
              <a:lnSpc>
                <a:spcPct val="110000"/>
              </a:lnSpc>
            </a:pPr>
            <a:r>
              <a:rPr lang="en-CA" sz="1000"/>
              <a:t>Study the lecture slides and write down any questions you have as you are studying.</a:t>
            </a:r>
          </a:p>
          <a:p>
            <a:pPr>
              <a:lnSpc>
                <a:spcPct val="110000"/>
              </a:lnSpc>
            </a:pPr>
            <a:r>
              <a:rPr lang="en-CA" sz="1000" b="1"/>
              <a:t>DURING THE LECTURE</a:t>
            </a:r>
          </a:p>
          <a:p>
            <a:pPr lvl="1">
              <a:lnSpc>
                <a:spcPct val="110000"/>
              </a:lnSpc>
            </a:pPr>
            <a:r>
              <a:rPr lang="en-CA" sz="1000"/>
              <a:t>Arrive on time</a:t>
            </a:r>
          </a:p>
          <a:p>
            <a:pPr lvl="1">
              <a:lnSpc>
                <a:spcPct val="110000"/>
              </a:lnSpc>
            </a:pPr>
            <a:r>
              <a:rPr lang="en-CA" sz="1000"/>
              <a:t>Engage in the lecture, listen intently for understanding</a:t>
            </a:r>
          </a:p>
          <a:p>
            <a:pPr lvl="1">
              <a:lnSpc>
                <a:spcPct val="110000"/>
              </a:lnSpc>
            </a:pPr>
            <a:r>
              <a:rPr lang="en-CA" sz="1000"/>
              <a:t>Ask questions</a:t>
            </a:r>
          </a:p>
          <a:p>
            <a:pPr lvl="1">
              <a:lnSpc>
                <a:spcPct val="110000"/>
              </a:lnSpc>
            </a:pPr>
            <a:r>
              <a:rPr lang="en-CA" sz="1000"/>
              <a:t>Write notes</a:t>
            </a:r>
          </a:p>
          <a:p>
            <a:pPr lvl="1">
              <a:lnSpc>
                <a:spcPct val="110000"/>
              </a:lnSpc>
            </a:pPr>
            <a:r>
              <a:rPr lang="en-CA" sz="1000"/>
              <a:t>Attend every lecture</a:t>
            </a:r>
          </a:p>
          <a:p>
            <a:pPr>
              <a:lnSpc>
                <a:spcPct val="110000"/>
              </a:lnSpc>
            </a:pPr>
            <a:r>
              <a:rPr lang="en-CA" sz="1000" b="1"/>
              <a:t>AFTER THE LECTURE</a:t>
            </a:r>
          </a:p>
          <a:p>
            <a:pPr lvl="1">
              <a:lnSpc>
                <a:spcPct val="110000"/>
              </a:lnSpc>
            </a:pPr>
            <a:r>
              <a:rPr lang="en-CA" sz="1000"/>
              <a:t>Study the lecture slides with a study group.</a:t>
            </a:r>
          </a:p>
          <a:p>
            <a:pPr lvl="1">
              <a:lnSpc>
                <a:spcPct val="110000"/>
              </a:lnSpc>
            </a:pPr>
            <a:r>
              <a:rPr lang="en-CA" sz="1000"/>
              <a:t>Re-do the coding element of the in-class assignment.</a:t>
            </a:r>
          </a:p>
          <a:p>
            <a:pPr lvl="1">
              <a:lnSpc>
                <a:spcPct val="110000"/>
              </a:lnSpc>
            </a:pPr>
            <a:r>
              <a:rPr lang="en-CA" sz="1000"/>
              <a:t>Practice writing python code daily</a:t>
            </a:r>
          </a:p>
          <a:p>
            <a:pPr lvl="1">
              <a:lnSpc>
                <a:spcPct val="110000"/>
              </a:lnSpc>
            </a:pPr>
            <a:r>
              <a:rPr lang="en-CA" sz="1000"/>
              <a:t>Leverage the tutorial help at the library when needed</a:t>
            </a:r>
          </a:p>
          <a:p>
            <a:pPr lvl="1">
              <a:lnSpc>
                <a:spcPct val="110000"/>
              </a:lnSpc>
            </a:pPr>
            <a:r>
              <a:rPr lang="en-CA" sz="1000"/>
              <a:t>Leverage the reference links on blackboard when needed</a:t>
            </a:r>
          </a:p>
          <a:p>
            <a:pPr>
              <a:lnSpc>
                <a:spcPct val="110000"/>
              </a:lnSpc>
            </a:pPr>
            <a:endParaRPr lang="en-CA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3612A4-0B77-4479-B2AA-F178599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8A367A-3E83-4B48-A0F7-43FBE333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869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EFDA1A-2A01-4C29-A5D0-AE6F050D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Empty speech bubbles">
            <a:extLst>
              <a:ext uri="{FF2B5EF4-FFF2-40B4-BE49-F238E27FC236}">
                <a16:creationId xmlns:a16="http://schemas.microsoft.com/office/drawing/2014/main" id="{88D30CED-69C4-D705-1F6B-80F826D8CA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l="9748" r="1253" b="-1"/>
          <a:stretch/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FD20E5-30AF-47B9-9256-2E8E904C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CA" dirty="0"/>
              <a:t>Communicating with the instructor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9D3810-B86F-4009-84EC-DE0FEABD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015732"/>
            <a:ext cx="7202456" cy="3450613"/>
          </a:xfrm>
        </p:spPr>
        <p:txBody>
          <a:bodyPr>
            <a:normAutofit/>
          </a:bodyPr>
          <a:lstStyle/>
          <a:p>
            <a:r>
              <a:rPr lang="en-CA" b="1" u="sng"/>
              <a:t>Only</a:t>
            </a:r>
            <a:r>
              <a:rPr lang="en-CA"/>
              <a:t> communicate with the instructor using email: </a:t>
            </a:r>
            <a:r>
              <a:rPr lang="en-CA">
                <a:hlinkClick r:id="rId3"/>
              </a:rPr>
              <a:t>wayne.brown@georgiancollege.ca</a:t>
            </a:r>
            <a:endParaRPr lang="en-CA"/>
          </a:p>
          <a:p>
            <a:pPr marL="0" indent="0">
              <a:buNone/>
            </a:pPr>
            <a:endParaRPr lang="en-CA"/>
          </a:p>
          <a:p>
            <a:r>
              <a:rPr lang="en-CA" b="1" u="sng"/>
              <a:t>Do not </a:t>
            </a:r>
            <a:r>
              <a:rPr lang="en-CA"/>
              <a:t>use blackboard messaging to communicate with the instructor – messages received via blackboard messaging will not be seen and therefore will not be answered</a:t>
            </a:r>
          </a:p>
          <a:p>
            <a:pPr marL="0" indent="0">
              <a:buNone/>
            </a:pPr>
            <a:endParaRPr lang="en-CA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3612A4-0B77-4479-B2AA-F178599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8A367A-3E83-4B48-A0F7-43FBE333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571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EFDA1A-2A01-4C29-A5D0-AE6F050D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Glasses on top of a book">
            <a:extLst>
              <a:ext uri="{FF2B5EF4-FFF2-40B4-BE49-F238E27FC236}">
                <a16:creationId xmlns:a16="http://schemas.microsoft.com/office/drawing/2014/main" id="{59C54259-31C8-E196-D20F-15FE63F36B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r="11668" b="-1"/>
          <a:stretch/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FD20E5-30AF-47B9-9256-2E8E904C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CA" dirty="0"/>
              <a:t>Review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9D3810-B86F-4009-84EC-DE0FEABD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015732"/>
            <a:ext cx="7202456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CA" sz="1300" dirty="0"/>
              <a:t>Boolean Values</a:t>
            </a:r>
          </a:p>
          <a:p>
            <a:pPr>
              <a:lnSpc>
                <a:spcPct val="110000"/>
              </a:lnSpc>
            </a:pPr>
            <a:r>
              <a:rPr lang="en-CA" sz="1300" dirty="0"/>
              <a:t>Comparison Operators</a:t>
            </a:r>
          </a:p>
          <a:p>
            <a:pPr>
              <a:lnSpc>
                <a:spcPct val="110000"/>
              </a:lnSpc>
            </a:pPr>
            <a:r>
              <a:rPr lang="en-CA" sz="1300" dirty="0"/>
              <a:t>Boolean Operators</a:t>
            </a:r>
          </a:p>
          <a:p>
            <a:pPr>
              <a:lnSpc>
                <a:spcPct val="110000"/>
              </a:lnSpc>
            </a:pPr>
            <a:r>
              <a:rPr lang="en-CA" sz="1300" dirty="0"/>
              <a:t>if Statement</a:t>
            </a:r>
          </a:p>
          <a:p>
            <a:pPr>
              <a:lnSpc>
                <a:spcPct val="110000"/>
              </a:lnSpc>
            </a:pPr>
            <a:r>
              <a:rPr lang="en-CA" sz="1300" dirty="0"/>
              <a:t>else statement</a:t>
            </a:r>
          </a:p>
          <a:p>
            <a:pPr>
              <a:lnSpc>
                <a:spcPct val="110000"/>
              </a:lnSpc>
            </a:pPr>
            <a:r>
              <a:rPr lang="en-CA" sz="1300" dirty="0" err="1"/>
              <a:t>elif</a:t>
            </a:r>
            <a:r>
              <a:rPr lang="en-CA" sz="1300" dirty="0"/>
              <a:t> statement</a:t>
            </a:r>
          </a:p>
          <a:p>
            <a:pPr>
              <a:lnSpc>
                <a:spcPct val="110000"/>
              </a:lnSpc>
            </a:pPr>
            <a:r>
              <a:rPr lang="en-CA" sz="1300" dirty="0"/>
              <a:t>while loop – negative logic</a:t>
            </a:r>
          </a:p>
          <a:p>
            <a:pPr>
              <a:lnSpc>
                <a:spcPct val="110000"/>
              </a:lnSpc>
            </a:pPr>
            <a:r>
              <a:rPr lang="en-CA" sz="1300" dirty="0"/>
              <a:t>break statement</a:t>
            </a:r>
          </a:p>
          <a:p>
            <a:pPr>
              <a:lnSpc>
                <a:spcPct val="110000"/>
              </a:lnSpc>
            </a:pPr>
            <a:r>
              <a:rPr lang="en-CA" sz="1300" dirty="0"/>
              <a:t>continue statement</a:t>
            </a:r>
          </a:p>
          <a:p>
            <a:pPr>
              <a:lnSpc>
                <a:spcPct val="110000"/>
              </a:lnSpc>
            </a:pPr>
            <a:r>
              <a:rPr lang="en-CA" sz="1300" dirty="0"/>
              <a:t>for in range()</a:t>
            </a:r>
          </a:p>
          <a:p>
            <a:pPr>
              <a:lnSpc>
                <a:spcPct val="110000"/>
              </a:lnSpc>
            </a:pPr>
            <a:endParaRPr lang="en-CA" sz="1300" dirty="0"/>
          </a:p>
          <a:p>
            <a:pPr>
              <a:lnSpc>
                <a:spcPct val="110000"/>
              </a:lnSpc>
            </a:pPr>
            <a:endParaRPr lang="en-CA" sz="1300" dirty="0"/>
          </a:p>
          <a:p>
            <a:pPr>
              <a:lnSpc>
                <a:spcPct val="110000"/>
              </a:lnSpc>
            </a:pPr>
            <a:endParaRPr lang="en-CA" sz="1300" dirty="0"/>
          </a:p>
          <a:p>
            <a:pPr>
              <a:lnSpc>
                <a:spcPct val="110000"/>
              </a:lnSpc>
            </a:pPr>
            <a:endParaRPr lang="en-CA" sz="1300" dirty="0"/>
          </a:p>
          <a:p>
            <a:pPr>
              <a:lnSpc>
                <a:spcPct val="110000"/>
              </a:lnSpc>
            </a:pPr>
            <a:endParaRPr lang="en-CA" sz="1300" dirty="0"/>
          </a:p>
          <a:p>
            <a:pPr>
              <a:lnSpc>
                <a:spcPct val="110000"/>
              </a:lnSpc>
            </a:pPr>
            <a:endParaRPr lang="en-CA" sz="1300" dirty="0"/>
          </a:p>
          <a:p>
            <a:pPr>
              <a:lnSpc>
                <a:spcPct val="110000"/>
              </a:lnSpc>
            </a:pPr>
            <a:endParaRPr lang="en-CA" sz="1300" dirty="0"/>
          </a:p>
          <a:p>
            <a:pPr>
              <a:lnSpc>
                <a:spcPct val="110000"/>
              </a:lnSpc>
            </a:pPr>
            <a:endParaRPr lang="en-CA" sz="1300" dirty="0"/>
          </a:p>
          <a:p>
            <a:pPr>
              <a:lnSpc>
                <a:spcPct val="110000"/>
              </a:lnSpc>
            </a:pPr>
            <a:endParaRPr lang="en-CA" sz="1300" dirty="0"/>
          </a:p>
          <a:p>
            <a:pPr>
              <a:lnSpc>
                <a:spcPct val="110000"/>
              </a:lnSpc>
            </a:pPr>
            <a:endParaRPr lang="en-CA" sz="1300" dirty="0"/>
          </a:p>
          <a:p>
            <a:pPr>
              <a:lnSpc>
                <a:spcPct val="110000"/>
              </a:lnSpc>
            </a:pPr>
            <a:endParaRPr lang="en-CA" sz="1300" dirty="0"/>
          </a:p>
          <a:p>
            <a:pPr>
              <a:lnSpc>
                <a:spcPct val="110000"/>
              </a:lnSpc>
            </a:pPr>
            <a:endParaRPr lang="en-CA" sz="1300" dirty="0"/>
          </a:p>
          <a:p>
            <a:pPr marL="0" indent="0">
              <a:lnSpc>
                <a:spcPct val="110000"/>
              </a:lnSpc>
              <a:buNone/>
            </a:pPr>
            <a:endParaRPr lang="en-CA" sz="1300" dirty="0"/>
          </a:p>
          <a:p>
            <a:pPr>
              <a:lnSpc>
                <a:spcPct val="110000"/>
              </a:lnSpc>
            </a:pPr>
            <a:endParaRPr lang="en-CA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3612A4-0B77-4479-B2AA-F178599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8A367A-3E83-4B48-A0F7-43FBE333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281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EFDA1A-2A01-4C29-A5D0-AE6F050D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Padlock on computer motherboard">
            <a:extLst>
              <a:ext uri="{FF2B5EF4-FFF2-40B4-BE49-F238E27FC236}">
                <a16:creationId xmlns:a16="http://schemas.microsoft.com/office/drawing/2014/main" id="{51202CEA-F353-6311-9D66-9996BCA07D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r="11001" b="-1"/>
          <a:stretch/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FD20E5-30AF-47B9-9256-2E8E904C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936431E-91A5-7EFD-2BB9-F212EA2E6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CA" dirty="0"/>
              <a:t>Defining your own functions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9D3810-B86F-4009-84EC-DE0FEABD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2FA8D-6520-39F0-5BBB-BD9F6982C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684" y="2015732"/>
            <a:ext cx="7202456" cy="3450613"/>
          </a:xfrm>
        </p:spPr>
        <p:txBody>
          <a:bodyPr>
            <a:normAutofit/>
          </a:bodyPr>
          <a:lstStyle/>
          <a:p>
            <a:r>
              <a:rPr lang="en-CA" dirty="0"/>
              <a:t>A function is a block of organized, </a:t>
            </a:r>
            <a:r>
              <a:rPr lang="en-CA" u="sng" dirty="0"/>
              <a:t>reusable code </a:t>
            </a:r>
            <a:r>
              <a:rPr lang="en-CA" dirty="0"/>
              <a:t>that is usually used to perform a single job/task.</a:t>
            </a:r>
          </a:p>
          <a:p>
            <a:endParaRPr lang="en-CA" dirty="0"/>
          </a:p>
          <a:p>
            <a:r>
              <a:rPr lang="en-CA" dirty="0"/>
              <a:t>Functions provide better modularity and re-usability for your applications.</a:t>
            </a:r>
          </a:p>
          <a:p>
            <a:endParaRPr lang="en-CA" dirty="0"/>
          </a:p>
          <a:p>
            <a:r>
              <a:rPr lang="en-CA" dirty="0"/>
              <a:t>Functions we are familiar with are print(), input(), </a:t>
            </a:r>
            <a:r>
              <a:rPr lang="en-CA" dirty="0" err="1"/>
              <a:t>len</a:t>
            </a:r>
            <a:r>
              <a:rPr lang="en-CA" dirty="0"/>
              <a:t>()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3612A4-0B77-4479-B2AA-F178599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8A367A-3E83-4B48-A0F7-43FBE333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489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6431E-91A5-7EFD-2BB9-F212EA2E6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CA" dirty="0"/>
              <a:t>Understanding functions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5AAC92-3E05-C6E3-DFFF-11F341702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881" y="2936376"/>
            <a:ext cx="1465669" cy="1229558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6EEDBA7-78E3-E19A-32FD-DDC40B6BC14B}"/>
              </a:ext>
            </a:extLst>
          </p:cNvPr>
          <p:cNvCxnSpPr>
            <a:cxnSpLocks/>
          </p:cNvCxnSpPr>
          <p:nvPr/>
        </p:nvCxnSpPr>
        <p:spPr>
          <a:xfrm>
            <a:off x="1297773" y="3090646"/>
            <a:ext cx="560569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27337C-4168-B2BC-482D-518E442AE546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3341550" y="3165152"/>
            <a:ext cx="498120" cy="386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F907C45-1D42-9FDF-F9C0-7ECC817C1A4B}"/>
              </a:ext>
            </a:extLst>
          </p:cNvPr>
          <p:cNvSpPr txBox="1"/>
          <p:nvPr/>
        </p:nvSpPr>
        <p:spPr>
          <a:xfrm>
            <a:off x="1088231" y="2717933"/>
            <a:ext cx="572593" cy="3166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70332">
              <a:spcAft>
                <a:spcPts val="600"/>
              </a:spcAft>
            </a:pPr>
            <a:r>
              <a:rPr lang="en-CA" sz="145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</a:t>
            </a:r>
            <a:endParaRPr lang="en-CA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399386-B986-271B-1887-79DA9F4429FA}"/>
              </a:ext>
            </a:extLst>
          </p:cNvPr>
          <p:cNvSpPr txBox="1"/>
          <p:nvPr/>
        </p:nvSpPr>
        <p:spPr>
          <a:xfrm>
            <a:off x="3461740" y="2857416"/>
            <a:ext cx="742511" cy="3166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70332">
              <a:spcAft>
                <a:spcPts val="600"/>
              </a:spcAft>
            </a:pPr>
            <a:r>
              <a:rPr lang="en-CA" sz="145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</a:t>
            </a:r>
            <a:endParaRPr lang="en-CA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682838-F80B-B28A-6334-85B677E89A7A}"/>
              </a:ext>
            </a:extLst>
          </p:cNvPr>
          <p:cNvSpPr txBox="1"/>
          <p:nvPr/>
        </p:nvSpPr>
        <p:spPr>
          <a:xfrm>
            <a:off x="2389662" y="4361298"/>
            <a:ext cx="421910" cy="3166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70332">
              <a:spcAft>
                <a:spcPts val="600"/>
              </a:spcAft>
            </a:pPr>
            <a:r>
              <a:rPr lang="en-CA" sz="145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job</a:t>
            </a:r>
            <a:endParaRPr lang="en-CA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1896BAE-4DFC-CC4E-6CAE-3DD8378E5AEB}"/>
              </a:ext>
            </a:extLst>
          </p:cNvPr>
          <p:cNvSpPr/>
          <p:nvPr/>
        </p:nvSpPr>
        <p:spPr>
          <a:xfrm>
            <a:off x="2050313" y="4773150"/>
            <a:ext cx="949299" cy="54104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370332">
              <a:spcAft>
                <a:spcPts val="600"/>
              </a:spcAft>
            </a:pPr>
            <a:r>
              <a:rPr lang="en-US" sz="2916" kern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Math</a:t>
            </a:r>
            <a:endParaRPr lang="en-US" sz="36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50903A70-9394-D782-0669-4ADE307DB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675" y="2936376"/>
            <a:ext cx="1465669" cy="1229558"/>
          </a:xfrm>
          <a:prstGeom prst="rect">
            <a:avLst/>
          </a:prstGeom>
        </p:spPr>
      </p:pic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8D61E20-3F59-2EA3-DEDF-BD7784C9CBDF}"/>
              </a:ext>
            </a:extLst>
          </p:cNvPr>
          <p:cNvCxnSpPr>
            <a:cxnSpLocks/>
          </p:cNvCxnSpPr>
          <p:nvPr/>
        </p:nvCxnSpPr>
        <p:spPr>
          <a:xfrm>
            <a:off x="4964566" y="3090646"/>
            <a:ext cx="560569" cy="336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F9568CA-0905-4F82-302D-9E3DAFA43F42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7008344" y="3165152"/>
            <a:ext cx="498120" cy="386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112D92D-36E5-AE86-456C-F960FFE29A69}"/>
              </a:ext>
            </a:extLst>
          </p:cNvPr>
          <p:cNvSpPr txBox="1"/>
          <p:nvPr/>
        </p:nvSpPr>
        <p:spPr>
          <a:xfrm>
            <a:off x="4410612" y="2706798"/>
            <a:ext cx="1603324" cy="3166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70332">
              <a:spcAft>
                <a:spcPts val="600"/>
              </a:spcAft>
            </a:pPr>
            <a:r>
              <a:rPr lang="en-CA" sz="145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Argument(s) </a:t>
            </a:r>
            <a:r>
              <a:rPr lang="en-CA" sz="89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(0-many)</a:t>
            </a:r>
            <a:endParaRPr lang="en-CA" sz="11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1C3C8D-4447-B115-9322-1E6C7357B1AD}"/>
              </a:ext>
            </a:extLst>
          </p:cNvPr>
          <p:cNvSpPr txBox="1"/>
          <p:nvPr/>
        </p:nvSpPr>
        <p:spPr>
          <a:xfrm>
            <a:off x="6056456" y="4361298"/>
            <a:ext cx="421910" cy="3166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70332">
              <a:spcAft>
                <a:spcPts val="600"/>
              </a:spcAft>
            </a:pPr>
            <a:r>
              <a:rPr lang="en-CA" sz="145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job</a:t>
            </a:r>
            <a:endParaRPr lang="en-CA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75FD973-64A8-7B3D-51FE-A107615CA677}"/>
              </a:ext>
            </a:extLst>
          </p:cNvPr>
          <p:cNvSpPr/>
          <p:nvPr/>
        </p:nvSpPr>
        <p:spPr>
          <a:xfrm>
            <a:off x="4690386" y="4773150"/>
            <a:ext cx="3002745" cy="54104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370332">
              <a:spcAft>
                <a:spcPts val="600"/>
              </a:spcAft>
            </a:pPr>
            <a:r>
              <a:rPr lang="en-US" sz="2916" kern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Computer Science</a:t>
            </a:r>
            <a:endParaRPr lang="en-US" sz="36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A2FE80-8A5B-DA6D-2E34-2B3F15151479}"/>
              </a:ext>
            </a:extLst>
          </p:cNvPr>
          <p:cNvSpPr txBox="1"/>
          <p:nvPr/>
        </p:nvSpPr>
        <p:spPr>
          <a:xfrm>
            <a:off x="7182615" y="2856917"/>
            <a:ext cx="1137684" cy="3166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70332">
              <a:spcAft>
                <a:spcPts val="600"/>
              </a:spcAft>
            </a:pPr>
            <a:r>
              <a:rPr lang="en-CA" sz="1458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Value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1602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6431E-91A5-7EFD-2BB9-F212EA2E6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/>
              <a:t>Understanding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136CAC-4F4D-DEAB-FDC3-9DB1B1C9E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84" y="3006275"/>
            <a:ext cx="3720332" cy="14695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F0F838-550C-3263-84CC-6DCB17C6F21C}"/>
              </a:ext>
            </a:extLst>
          </p:cNvPr>
          <p:cNvSpPr txBox="1"/>
          <p:nvPr/>
        </p:nvSpPr>
        <p:spPr>
          <a:xfrm>
            <a:off x="5169224" y="2015734"/>
            <a:ext cx="3121916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Arguments are provided (passed ) by the caller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Arguments are stored in parameters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Arguments are typically used within the function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The return value is given to the caller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The caller is the line of code that invokes the function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The caller can do what they wish with the return value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39177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Defining your own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CA" dirty="0"/>
              <a:t>Python allows us to create our own functions using the keyword </a:t>
            </a:r>
            <a:r>
              <a:rPr lang="en-CA" b="1" dirty="0" err="1"/>
              <a:t>def</a:t>
            </a:r>
            <a:endParaRPr lang="en-CA" b="1" dirty="0"/>
          </a:p>
          <a:p>
            <a:endParaRPr lang="en-CA" b="1" dirty="0"/>
          </a:p>
          <a:p>
            <a:pPr marL="0" indent="0">
              <a:buNone/>
            </a:pPr>
            <a:r>
              <a:rPr lang="en-CA" b="1" dirty="0"/>
              <a:t>	</a:t>
            </a:r>
            <a:r>
              <a:rPr lang="en-CA" sz="2400" dirty="0" err="1"/>
              <a:t>def</a:t>
            </a:r>
            <a:r>
              <a:rPr lang="en-CA" sz="2400" dirty="0"/>
              <a:t> hello():</a:t>
            </a:r>
          </a:p>
          <a:p>
            <a:pPr marL="0" indent="0">
              <a:buNone/>
            </a:pPr>
            <a:r>
              <a:rPr lang="en-CA" sz="2400" b="1" dirty="0"/>
              <a:t>		</a:t>
            </a:r>
            <a:r>
              <a:rPr lang="en-CA" sz="2400" dirty="0"/>
              <a:t>print (‘Welcome to class’)</a:t>
            </a:r>
          </a:p>
          <a:p>
            <a:pPr marL="0" indent="0">
              <a:buNone/>
            </a:pPr>
            <a:r>
              <a:rPr lang="en-CA" sz="2400" b="1" dirty="0"/>
              <a:t>		</a:t>
            </a:r>
            <a:r>
              <a:rPr lang="en-CA" sz="2400" dirty="0"/>
              <a:t>print (“Glad you are here’)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The course convention/style guide is that function names follow the same naming conventions as variable names i.e. first word lower-case, all other words begin with an upper-case letter, and all function names must be meaningful</a:t>
            </a:r>
          </a:p>
        </p:txBody>
      </p:sp>
    </p:spTree>
    <p:extLst>
      <p:ext uri="{BB962C8B-B14F-4D97-AF65-F5344CB8AC3E}">
        <p14:creationId xmlns:p14="http://schemas.microsoft.com/office/powerpoint/2010/main" val="3243921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796" y="624110"/>
            <a:ext cx="6098663" cy="1280890"/>
          </a:xfrm>
        </p:spPr>
        <p:txBody>
          <a:bodyPr>
            <a:normAutofit/>
          </a:bodyPr>
          <a:lstStyle/>
          <a:p>
            <a:r>
              <a:rPr lang="en-CA" dirty="0"/>
              <a:t>Defining your own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9796" y="2133600"/>
            <a:ext cx="6098663" cy="377762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CA" sz="1800" dirty="0"/>
              <a:t>To call or execute a function we simply write the function name followed by parentheses and pass in any required arguments.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CA" sz="1600" dirty="0"/>
              <a:t>	def hello():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CA" sz="1600" b="1" dirty="0"/>
              <a:t>		</a:t>
            </a:r>
            <a:r>
              <a:rPr lang="en-CA" sz="1600" dirty="0"/>
              <a:t>print (‘Welcome to </a:t>
            </a:r>
            <a:r>
              <a:rPr lang="en-CA" sz="1600" dirty="0" err="1"/>
              <a:t>class’</a:t>
            </a:r>
            <a:r>
              <a:rPr lang="en-CA" sz="1600" dirty="0"/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CA" sz="1600" b="1" dirty="0"/>
              <a:t>		</a:t>
            </a:r>
            <a:r>
              <a:rPr lang="en-CA" sz="1600" dirty="0"/>
              <a:t>print (“Glad you are here’)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CA" sz="1600" dirty="0"/>
              <a:t>	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CA" sz="1600" dirty="0"/>
              <a:t>	hello()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CA" sz="1600" dirty="0"/>
              <a:t>will give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CA" sz="1600" b="1" dirty="0"/>
              <a:t>		</a:t>
            </a:r>
            <a:r>
              <a:rPr lang="en-CA" sz="1600" dirty="0"/>
              <a:t>Welcome to class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CA" sz="1600" dirty="0"/>
              <a:t>		 Glad you are here</a:t>
            </a:r>
          </a:p>
        </p:txBody>
      </p:sp>
    </p:spTree>
    <p:extLst>
      <p:ext uri="{BB962C8B-B14F-4D97-AF65-F5344CB8AC3E}">
        <p14:creationId xmlns:p14="http://schemas.microsoft.com/office/powerpoint/2010/main" val="2176958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7896" y="277443"/>
            <a:ext cx="6571343" cy="1049235"/>
          </a:xfrm>
        </p:spPr>
        <p:txBody>
          <a:bodyPr/>
          <a:lstStyle/>
          <a:p>
            <a:r>
              <a:rPr lang="en-CA" dirty="0"/>
              <a:t>Defining functions with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1967717"/>
            <a:ext cx="6571343" cy="3498629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CA" dirty="0"/>
              <a:t>	</a:t>
            </a:r>
            <a:r>
              <a:rPr lang="en-CA" sz="4300" dirty="0" err="1"/>
              <a:t>def</a:t>
            </a:r>
            <a:r>
              <a:rPr lang="en-CA" sz="4300" dirty="0"/>
              <a:t>   </a:t>
            </a:r>
            <a:r>
              <a:rPr lang="en-CA" sz="4300" dirty="0" err="1"/>
              <a:t>myGreeting</a:t>
            </a:r>
            <a:r>
              <a:rPr lang="en-CA" sz="4300" dirty="0"/>
              <a:t>(name):</a:t>
            </a:r>
          </a:p>
          <a:p>
            <a:pPr marL="0" indent="0">
              <a:buNone/>
            </a:pPr>
            <a:r>
              <a:rPr lang="en-CA" sz="4300" dirty="0"/>
              <a:t>		print(‘Hello’ + name)</a:t>
            </a:r>
          </a:p>
          <a:p>
            <a:pPr marL="0" indent="0">
              <a:buNone/>
            </a:pPr>
            <a:r>
              <a:rPr lang="en-CA" sz="4300" dirty="0"/>
              <a:t>		print(‘how are you today’)</a:t>
            </a:r>
          </a:p>
          <a:p>
            <a:pPr marL="0" indent="0">
              <a:buNone/>
            </a:pPr>
            <a:r>
              <a:rPr lang="en-CA" sz="4300" dirty="0"/>
              <a:t>To execute this function, we use the function name and pass in a string as an argument.</a:t>
            </a:r>
          </a:p>
          <a:p>
            <a:pPr marL="0" indent="0">
              <a:buNone/>
            </a:pPr>
            <a:r>
              <a:rPr lang="en-CA" sz="4300" dirty="0"/>
              <a:t>	</a:t>
            </a:r>
            <a:r>
              <a:rPr lang="en-CA" sz="4300" dirty="0" err="1"/>
              <a:t>myGreeting</a:t>
            </a:r>
            <a:r>
              <a:rPr lang="en-CA" sz="4300" dirty="0"/>
              <a:t> (‘Bill’)</a:t>
            </a:r>
          </a:p>
          <a:p>
            <a:pPr marL="0" indent="0">
              <a:buNone/>
            </a:pPr>
            <a:r>
              <a:rPr lang="en-CA" sz="4300" dirty="0"/>
              <a:t>will give</a:t>
            </a:r>
          </a:p>
          <a:p>
            <a:pPr marL="0" indent="0">
              <a:buNone/>
            </a:pPr>
            <a:r>
              <a:rPr lang="en-CA" sz="4300" dirty="0"/>
              <a:t>	Hello Bill</a:t>
            </a:r>
          </a:p>
          <a:p>
            <a:pPr marL="0" indent="0">
              <a:buNone/>
            </a:pPr>
            <a:r>
              <a:rPr lang="en-CA" sz="4300" dirty="0"/>
              <a:t>	how are you today</a:t>
            </a:r>
          </a:p>
          <a:p>
            <a:r>
              <a:rPr lang="en-CA" sz="4300" dirty="0"/>
              <a:t>The argument ‘Bill’ is stored in the variable (parameter) name to be used by the function.</a:t>
            </a:r>
          </a:p>
        </p:txBody>
      </p:sp>
      <p:sp>
        <p:nvSpPr>
          <p:cNvPr id="4" name="Oval Callout 3"/>
          <p:cNvSpPr/>
          <p:nvPr/>
        </p:nvSpPr>
        <p:spPr>
          <a:xfrm>
            <a:off x="5076056" y="1326678"/>
            <a:ext cx="2016224" cy="576064"/>
          </a:xfrm>
          <a:prstGeom prst="wedgeEllipseCallout">
            <a:avLst>
              <a:gd name="adj1" fmla="val -109826"/>
              <a:gd name="adj2" fmla="val 789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Parameter</a:t>
            </a:r>
          </a:p>
        </p:txBody>
      </p:sp>
      <p:sp>
        <p:nvSpPr>
          <p:cNvPr id="5" name="Oval Callout 4"/>
          <p:cNvSpPr/>
          <p:nvPr/>
        </p:nvSpPr>
        <p:spPr>
          <a:xfrm>
            <a:off x="5076056" y="3717031"/>
            <a:ext cx="2016224" cy="576064"/>
          </a:xfrm>
          <a:prstGeom prst="wedgeEllipseCallout">
            <a:avLst>
              <a:gd name="adj1" fmla="val -138064"/>
              <a:gd name="adj2" fmla="val -722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Argument</a:t>
            </a:r>
          </a:p>
        </p:txBody>
      </p:sp>
    </p:spTree>
    <p:extLst>
      <p:ext uri="{BB962C8B-B14F-4D97-AF65-F5344CB8AC3E}">
        <p14:creationId xmlns:p14="http://schemas.microsoft.com/office/powerpoint/2010/main" val="162051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EFDA1A-2A01-4C29-A5D0-AE6F050D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9DCEAD-71D6-DA52-D2EB-0BF518A6C5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l="5098" r="19904"/>
          <a:stretch/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FD20E5-30AF-47B9-9256-2E8E904C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CA"/>
              <a:t>Defining functions with parameters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9D3810-B86F-4009-84EC-DE0FEABD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015732"/>
            <a:ext cx="7202456" cy="3450613"/>
          </a:xfrm>
        </p:spPr>
        <p:txBody>
          <a:bodyPr>
            <a:normAutofit/>
          </a:bodyPr>
          <a:lstStyle/>
          <a:p>
            <a:r>
              <a:rPr lang="en-CA" dirty="0"/>
              <a:t>Once the function is completed the information stored in the parameter is forgotten and the variable itself is destroyed.  Thus, the parameter is known as a local variable, local to the function.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3612A4-0B77-4479-B2AA-F178599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8A367A-3E83-4B48-A0F7-43FBE333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9126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EFDA1A-2A01-4C29-A5D0-AE6F050D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Zigzag indicator line">
            <a:extLst>
              <a:ext uri="{FF2B5EF4-FFF2-40B4-BE49-F238E27FC236}">
                <a16:creationId xmlns:a16="http://schemas.microsoft.com/office/drawing/2014/main" id="{5CF694E6-66B5-587D-E1EE-7C1BC760D4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l="3077" r="7924" b="-1"/>
          <a:stretch/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FD20E5-30AF-47B9-9256-2E8E904C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CA"/>
              <a:t>Return values and return statements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9D3810-B86F-4009-84EC-DE0FEABD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015732"/>
            <a:ext cx="7202456" cy="3450613"/>
          </a:xfrm>
        </p:spPr>
        <p:txBody>
          <a:bodyPr>
            <a:normAutofit/>
          </a:bodyPr>
          <a:lstStyle/>
          <a:p>
            <a:r>
              <a:rPr lang="en-CA" dirty="0"/>
              <a:t>Recall how the </a:t>
            </a:r>
            <a:r>
              <a:rPr lang="en-CA" dirty="0" err="1"/>
              <a:t>len</a:t>
            </a:r>
            <a:r>
              <a:rPr lang="en-CA" dirty="0"/>
              <a:t>() function operates:</a:t>
            </a:r>
          </a:p>
          <a:p>
            <a:pPr lvl="1"/>
            <a:r>
              <a:rPr lang="en-CA" dirty="0"/>
              <a:t>You pass in a string argument, and it </a:t>
            </a:r>
            <a:r>
              <a:rPr lang="en-CA" b="1" dirty="0"/>
              <a:t>returns</a:t>
            </a:r>
            <a:r>
              <a:rPr lang="en-CA" dirty="0"/>
              <a:t> or evaluates to an integer value, which represents the number of characters in the string.</a:t>
            </a:r>
          </a:p>
          <a:p>
            <a:pPr marL="274320" lvl="1" indent="0">
              <a:buNone/>
            </a:pPr>
            <a:endParaRPr lang="en-CA" dirty="0"/>
          </a:p>
          <a:p>
            <a:pPr marL="274320" lvl="1" indent="0">
              <a:buNone/>
            </a:pPr>
            <a:r>
              <a:rPr lang="en-CA" dirty="0"/>
              <a:t>Ex.  </a:t>
            </a:r>
            <a:r>
              <a:rPr lang="en-CA" dirty="0" err="1"/>
              <a:t>len</a:t>
            </a:r>
            <a:r>
              <a:rPr lang="en-CA" dirty="0"/>
              <a:t>(‘Bill’)  evaluates to 4</a:t>
            </a:r>
          </a:p>
          <a:p>
            <a:pPr marL="274320" lvl="1" indent="0">
              <a:buNone/>
            </a:pPr>
            <a:endParaRPr lang="en-CA" dirty="0"/>
          </a:p>
          <a:p>
            <a:r>
              <a:rPr lang="en-CA" dirty="0"/>
              <a:t>The value that the function evaluates to is called the </a:t>
            </a:r>
            <a:r>
              <a:rPr lang="en-CA" b="1" dirty="0"/>
              <a:t>return value </a:t>
            </a:r>
            <a:r>
              <a:rPr lang="en-CA" dirty="0"/>
              <a:t>of the function.   </a:t>
            </a:r>
            <a:r>
              <a:rPr lang="en-CA" b="1" dirty="0"/>
              <a:t>The return value is </a:t>
            </a:r>
            <a:r>
              <a:rPr lang="en-CA" b="1" u="sng" dirty="0"/>
              <a:t>not</a:t>
            </a:r>
            <a:r>
              <a:rPr lang="en-CA" b="1" dirty="0"/>
              <a:t> a value that is printed.</a:t>
            </a:r>
          </a:p>
          <a:p>
            <a:pPr lvl="1"/>
            <a:endParaRPr lang="en-CA" dirty="0"/>
          </a:p>
          <a:p>
            <a:pPr marL="274320" lvl="1" indent="0">
              <a:buNone/>
            </a:pPr>
            <a:endParaRPr lang="en-CA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3612A4-0B77-4479-B2AA-F178599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8A367A-3E83-4B48-A0F7-43FBE333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231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EFDA1A-2A01-4C29-A5D0-AE6F050D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626284-834C-2768-CDE4-23EF0A7112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l="5602" r="27733"/>
          <a:stretch/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FD20E5-30AF-47B9-9256-2E8E904C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CA"/>
              <a:t>Return values and return statements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9D3810-B86F-4009-84EC-DE0FEABD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015732"/>
            <a:ext cx="7202456" cy="345061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CA" sz="1800" dirty="0"/>
              <a:t>When creating a function, you can specify what the function should evaluate to (or return) using the return keyword.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CA" sz="1800" dirty="0"/>
              <a:t>Ex.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CA" sz="1800" dirty="0"/>
              <a:t>	def  </a:t>
            </a:r>
            <a:r>
              <a:rPr lang="en-CA" sz="1800" dirty="0" err="1"/>
              <a:t>multiplyByTen</a:t>
            </a:r>
            <a:r>
              <a:rPr lang="en-CA" sz="1800" dirty="0"/>
              <a:t> (number):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CA" sz="1800" dirty="0"/>
              <a:t>		answer = number * 10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CA" sz="1800" dirty="0"/>
              <a:t>		return answer</a:t>
            </a:r>
          </a:p>
          <a:p>
            <a:pPr marL="0" indent="0">
              <a:lnSpc>
                <a:spcPct val="110000"/>
              </a:lnSpc>
              <a:buNone/>
            </a:pPr>
            <a:endParaRPr lang="en-CA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CA" sz="1800" dirty="0"/>
              <a:t>	</a:t>
            </a:r>
            <a:r>
              <a:rPr lang="en-CA" sz="1800" dirty="0" err="1"/>
              <a:t>usersNumber</a:t>
            </a:r>
            <a:r>
              <a:rPr lang="en-CA" sz="1800" dirty="0"/>
              <a:t> = int(input())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CA" sz="1800" dirty="0"/>
              <a:t>	</a:t>
            </a:r>
            <a:r>
              <a:rPr lang="en-CA" sz="1800" dirty="0" err="1"/>
              <a:t>variableOne</a:t>
            </a:r>
            <a:r>
              <a:rPr lang="en-CA" sz="1800" dirty="0"/>
              <a:t> = </a:t>
            </a:r>
            <a:r>
              <a:rPr lang="en-CA" sz="1800" dirty="0" err="1"/>
              <a:t>multiplyByTen</a:t>
            </a:r>
            <a:r>
              <a:rPr lang="en-CA" sz="1800" dirty="0"/>
              <a:t>(</a:t>
            </a:r>
            <a:r>
              <a:rPr lang="en-CA" sz="1800" dirty="0" err="1"/>
              <a:t>usersNumber</a:t>
            </a:r>
            <a:r>
              <a:rPr lang="en-CA" sz="1800" dirty="0"/>
              <a:t>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3612A4-0B77-4479-B2AA-F178599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8A367A-3E83-4B48-A0F7-43FBE333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396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EFDA1A-2A01-4C29-A5D0-AE6F050D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Yellow python">
            <a:extLst>
              <a:ext uri="{FF2B5EF4-FFF2-40B4-BE49-F238E27FC236}">
                <a16:creationId xmlns:a16="http://schemas.microsoft.com/office/drawing/2014/main" id="{48809653-EECC-1FCD-7AEF-FA9BABA791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l="300" r="10034" b="-2"/>
          <a:stretch/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FD20E5-30AF-47B9-9256-2E8E904C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CA" dirty="0"/>
              <a:t>The none value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9D3810-B86F-4009-84EC-DE0FEABD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015732"/>
            <a:ext cx="7202456" cy="3450613"/>
          </a:xfrm>
        </p:spPr>
        <p:txBody>
          <a:bodyPr>
            <a:normAutofit/>
          </a:bodyPr>
          <a:lstStyle/>
          <a:p>
            <a:r>
              <a:rPr lang="en-CA" dirty="0"/>
              <a:t>By definition all function calls in Python must return a value.</a:t>
            </a:r>
          </a:p>
          <a:p>
            <a:endParaRPr lang="en-CA" dirty="0"/>
          </a:p>
          <a:p>
            <a:r>
              <a:rPr lang="en-CA" dirty="0"/>
              <a:t>If a function returns nothing (for example it just does a calculation) it will have a return value of none.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	test = print(‘hello’)</a:t>
            </a:r>
          </a:p>
          <a:p>
            <a:pPr marL="0" indent="0">
              <a:buNone/>
            </a:pPr>
            <a:r>
              <a:rPr lang="en-CA" dirty="0"/>
              <a:t>	print(test) yields -----------  none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3612A4-0B77-4479-B2AA-F178599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8A367A-3E83-4B48-A0F7-43FBE333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153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EFDA1A-2A01-4C29-A5D0-AE6F050D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Photograph of the earth">
            <a:extLst>
              <a:ext uri="{FF2B5EF4-FFF2-40B4-BE49-F238E27FC236}">
                <a16:creationId xmlns:a16="http://schemas.microsoft.com/office/drawing/2014/main" id="{836D0FA6-22DB-263E-43B0-D754832432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l="9733" r="15269"/>
          <a:stretch/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FD20E5-30AF-47B9-9256-2E8E904C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CA" dirty="0"/>
              <a:t>Local and Global Scope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9D3810-B86F-4009-84EC-DE0FEABD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015732"/>
            <a:ext cx="7202456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CA"/>
              <a:t>Scope refers to the context in which a variable exists and can be referenced.</a:t>
            </a:r>
          </a:p>
          <a:p>
            <a:pPr>
              <a:lnSpc>
                <a:spcPct val="110000"/>
              </a:lnSpc>
            </a:pPr>
            <a:endParaRPr lang="en-CA"/>
          </a:p>
          <a:p>
            <a:pPr>
              <a:lnSpc>
                <a:spcPct val="110000"/>
              </a:lnSpc>
            </a:pPr>
            <a:r>
              <a:rPr lang="en-CA"/>
              <a:t>Local variables have a local (smaller) scope, therefore they can only be used within that scope.</a:t>
            </a:r>
          </a:p>
          <a:p>
            <a:pPr>
              <a:lnSpc>
                <a:spcPct val="110000"/>
              </a:lnSpc>
            </a:pPr>
            <a:endParaRPr lang="en-CA"/>
          </a:p>
          <a:p>
            <a:pPr>
              <a:lnSpc>
                <a:spcPct val="110000"/>
              </a:lnSpc>
            </a:pPr>
            <a:r>
              <a:rPr lang="en-CA"/>
              <a:t>Global variables have a global (larger) scope, therefore they can only be used within that scope.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3612A4-0B77-4479-B2AA-F178599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8A367A-3E83-4B48-A0F7-43FBE333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152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Local and Global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In a python program there is only one global scope but there can be one or more local scopes.</a:t>
            </a:r>
          </a:p>
          <a:p>
            <a:endParaRPr lang="en-CA" dirty="0"/>
          </a:p>
          <a:p>
            <a:r>
              <a:rPr lang="en-CA" dirty="0"/>
              <a:t>Variables defined within a function have a local scope.</a:t>
            </a:r>
          </a:p>
          <a:p>
            <a:endParaRPr lang="en-CA" dirty="0"/>
          </a:p>
          <a:p>
            <a:r>
              <a:rPr lang="en-CA" dirty="0"/>
              <a:t>Variables defined outside a function have a global scope .</a:t>
            </a:r>
          </a:p>
          <a:p>
            <a:endParaRPr lang="en-CA" dirty="0"/>
          </a:p>
          <a:p>
            <a:r>
              <a:rPr lang="en-CA" dirty="0"/>
              <a:t>Local scopes exist with the global scope.</a:t>
            </a:r>
          </a:p>
        </p:txBody>
      </p:sp>
      <p:sp>
        <p:nvSpPr>
          <p:cNvPr id="4" name="Cube 3"/>
          <p:cNvSpPr/>
          <p:nvPr/>
        </p:nvSpPr>
        <p:spPr>
          <a:xfrm>
            <a:off x="6948264" y="4653136"/>
            <a:ext cx="2016224" cy="1368152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Global</a:t>
            </a:r>
          </a:p>
        </p:txBody>
      </p:sp>
      <p:sp>
        <p:nvSpPr>
          <p:cNvPr id="5" name="Flowchart: Process 4"/>
          <p:cNvSpPr/>
          <p:nvPr/>
        </p:nvSpPr>
        <p:spPr>
          <a:xfrm>
            <a:off x="7740352" y="5733256"/>
            <a:ext cx="792088" cy="216024"/>
          </a:xfrm>
          <a:prstGeom prst="flowChartProcess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Local</a:t>
            </a:r>
          </a:p>
        </p:txBody>
      </p:sp>
    </p:spTree>
    <p:extLst>
      <p:ext uri="{BB962C8B-B14F-4D97-AF65-F5344CB8AC3E}">
        <p14:creationId xmlns:p14="http://schemas.microsoft.com/office/powerpoint/2010/main" val="1860395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8E7A6F0-5CD3-481E-B0F2-E7F99FE6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1290DF-4975-4FCD-8B8D-BBC86B836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459" y="1138228"/>
            <a:ext cx="2845263" cy="3858767"/>
          </a:xfrm>
        </p:spPr>
        <p:txBody>
          <a:bodyPr anchor="ctr">
            <a:normAutofit/>
          </a:bodyPr>
          <a:lstStyle/>
          <a:p>
            <a:r>
              <a:rPr lang="en-CA" sz="3100"/>
              <a:t>Local and Global Scope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57CA18A-A333-4DCB-842B-76827D2EC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825015" y="638300"/>
            <a:ext cx="4807204" cy="4858625"/>
            <a:chOff x="7807230" y="2012810"/>
            <a:chExt cx="3251252" cy="345986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E785FC3-CE7B-46F8-8C7A-EBBF001ED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5069D9A-30C7-4159-880C-DD2BDC510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9FE1511-6E1B-4F0E-8FF0-958527181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918" y="973636"/>
            <a:ext cx="4327398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DFD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8362" y="1138228"/>
            <a:ext cx="4080510" cy="3858768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CA" sz="1400" dirty="0">
                <a:solidFill>
                  <a:srgbClr val="000000"/>
                </a:solidFill>
              </a:rPr>
              <a:t>	ham = 453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CA" sz="1400" dirty="0">
                <a:solidFill>
                  <a:srgbClr val="000000"/>
                </a:solidFill>
              </a:rPr>
              <a:t>	def </a:t>
            </a:r>
            <a:r>
              <a:rPr lang="en-CA" sz="1400" dirty="0" err="1">
                <a:solidFill>
                  <a:srgbClr val="000000"/>
                </a:solidFill>
              </a:rPr>
              <a:t>testFunction</a:t>
            </a:r>
            <a:r>
              <a:rPr lang="en-CA" sz="1400" dirty="0">
                <a:solidFill>
                  <a:srgbClr val="000000"/>
                </a:solidFill>
              </a:rPr>
              <a:t>():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CA" sz="1400" dirty="0">
                <a:solidFill>
                  <a:srgbClr val="000000"/>
                </a:solidFill>
              </a:rPr>
              <a:t>		eggs = 123</a:t>
            </a:r>
          </a:p>
          <a:p>
            <a:pPr marL="0" indent="0">
              <a:lnSpc>
                <a:spcPct val="110000"/>
              </a:lnSpc>
              <a:buNone/>
            </a:pPr>
            <a:endParaRPr lang="en-CA" sz="1400" dirty="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CA" sz="1400" dirty="0">
                <a:solidFill>
                  <a:srgbClr val="000000"/>
                </a:solidFill>
              </a:rPr>
              <a:t>	</a:t>
            </a:r>
            <a:r>
              <a:rPr lang="en-CA" sz="1400" dirty="0" err="1">
                <a:solidFill>
                  <a:srgbClr val="000000"/>
                </a:solidFill>
              </a:rPr>
              <a:t>testFunction</a:t>
            </a:r>
            <a:r>
              <a:rPr lang="en-CA" sz="1400" dirty="0">
                <a:solidFill>
                  <a:srgbClr val="000000"/>
                </a:solidFill>
              </a:rPr>
              <a:t>()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CA" sz="1400" dirty="0">
                <a:solidFill>
                  <a:srgbClr val="000000"/>
                </a:solidFill>
              </a:rPr>
              <a:t>	print (eggs)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CA" sz="1400" dirty="0">
                <a:solidFill>
                  <a:srgbClr val="000000"/>
                </a:solidFill>
              </a:rPr>
              <a:t> THIS WILL CAUSE AN ERROR BECAUSE OF SCOPE</a:t>
            </a:r>
          </a:p>
          <a:p>
            <a:pPr marL="0" indent="0">
              <a:lnSpc>
                <a:spcPct val="110000"/>
              </a:lnSpc>
              <a:buNone/>
            </a:pPr>
            <a:endParaRPr lang="en-CA" sz="1400" dirty="0">
              <a:solidFill>
                <a:srgbClr val="000000"/>
              </a:solidFill>
            </a:endParaRPr>
          </a:p>
          <a:p>
            <a:pPr>
              <a:lnSpc>
                <a:spcPct val="110000"/>
              </a:lnSpc>
            </a:pPr>
            <a:r>
              <a:rPr lang="en-CA" sz="1400" dirty="0">
                <a:solidFill>
                  <a:srgbClr val="000000"/>
                </a:solidFill>
              </a:rPr>
              <a:t>Variable(s) from one local scope (function) cannot be used or referenced in another local scope (function).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25CEF6D-5E98-4B5C-A10F-7459C1EEF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5C73161-1E4E-4E6A-91B2-E885CF8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2212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E7A6F0-5CD3-481E-B0F2-E7F99FE6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1290DF-4975-4FCD-8B8D-BBC86B836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459" y="1138228"/>
            <a:ext cx="2845263" cy="3858767"/>
          </a:xfrm>
        </p:spPr>
        <p:txBody>
          <a:bodyPr anchor="ctr">
            <a:normAutofit/>
          </a:bodyPr>
          <a:lstStyle/>
          <a:p>
            <a:r>
              <a:rPr lang="en-CA" sz="3100"/>
              <a:t>Local and Global Scope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7CA18A-A333-4DCB-842B-76827D2EC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825015" y="638300"/>
            <a:ext cx="4807204" cy="4858625"/>
            <a:chOff x="7807230" y="2012810"/>
            <a:chExt cx="3251252" cy="345986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E785FC3-CE7B-46F8-8C7A-EBBF001ED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069D9A-30C7-4159-880C-DD2BDC510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9FE1511-6E1B-4F0E-8FF0-958527181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918" y="973636"/>
            <a:ext cx="4327398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DFD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8362" y="1138228"/>
            <a:ext cx="4080510" cy="3858768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CA" sz="1600">
                <a:solidFill>
                  <a:srgbClr val="000000"/>
                </a:solidFill>
              </a:rPr>
              <a:t>Global variables can be read from a local scope.</a:t>
            </a:r>
          </a:p>
          <a:p>
            <a:pPr>
              <a:lnSpc>
                <a:spcPct val="110000"/>
              </a:lnSpc>
            </a:pPr>
            <a:endParaRPr lang="en-CA" sz="160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CA" sz="1600">
                <a:solidFill>
                  <a:srgbClr val="000000"/>
                </a:solidFill>
              </a:rPr>
              <a:t>	eggs = 42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CA" sz="1600">
                <a:solidFill>
                  <a:srgbClr val="000000"/>
                </a:solidFill>
              </a:rPr>
              <a:t>	def testFunction():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CA" sz="1600">
                <a:solidFill>
                  <a:srgbClr val="000000"/>
                </a:solidFill>
              </a:rPr>
              <a:t>		print(eggs)</a:t>
            </a:r>
          </a:p>
          <a:p>
            <a:pPr marL="0" indent="0">
              <a:lnSpc>
                <a:spcPct val="110000"/>
              </a:lnSpc>
              <a:buNone/>
            </a:pPr>
            <a:endParaRPr lang="en-CA" sz="1600">
              <a:solidFill>
                <a:srgbClr val="00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CA" sz="1600">
                <a:solidFill>
                  <a:srgbClr val="000000"/>
                </a:solidFill>
              </a:rPr>
              <a:t>	testFunction()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CA" sz="1600">
                <a:solidFill>
                  <a:srgbClr val="000000"/>
                </a:solidFill>
              </a:rPr>
              <a:t>	yields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CA" sz="1600">
                <a:solidFill>
                  <a:srgbClr val="000000"/>
                </a:solidFill>
              </a:rPr>
              <a:t>	42</a:t>
            </a:r>
          </a:p>
          <a:p>
            <a:pPr marL="0" indent="0">
              <a:lnSpc>
                <a:spcPct val="110000"/>
              </a:lnSpc>
              <a:buNone/>
            </a:pPr>
            <a:endParaRPr lang="en-CA" sz="1600">
              <a:solidFill>
                <a:srgbClr val="00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25CEF6D-5E98-4B5C-A10F-7459C1EEF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C73161-1E4E-4E6A-91B2-E885CF8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301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3807" y="200032"/>
            <a:ext cx="6589199" cy="780696"/>
          </a:xfrm>
        </p:spPr>
        <p:txBody>
          <a:bodyPr/>
          <a:lstStyle/>
          <a:p>
            <a:r>
              <a:rPr lang="en-CA" dirty="0"/>
              <a:t>Local and Global Scope</a:t>
            </a:r>
          </a:p>
        </p:txBody>
      </p:sp>
      <p:sp>
        <p:nvSpPr>
          <p:cNvPr id="4" name="Left Arrow 3"/>
          <p:cNvSpPr/>
          <p:nvPr/>
        </p:nvSpPr>
        <p:spPr>
          <a:xfrm>
            <a:off x="2318611" y="1907735"/>
            <a:ext cx="2736304" cy="753286"/>
          </a:xfrm>
          <a:prstGeom prst="leftArrow">
            <a:avLst>
              <a:gd name="adj1" fmla="val 50000"/>
              <a:gd name="adj2" fmla="val 6968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Yields 29</a:t>
            </a:r>
          </a:p>
        </p:txBody>
      </p:sp>
      <p:sp>
        <p:nvSpPr>
          <p:cNvPr id="5" name="Left Arrow 4"/>
          <p:cNvSpPr/>
          <p:nvPr/>
        </p:nvSpPr>
        <p:spPr>
          <a:xfrm>
            <a:off x="5238406" y="3429001"/>
            <a:ext cx="2736304" cy="720080"/>
          </a:xfrm>
          <a:prstGeom prst="leftArrow">
            <a:avLst>
              <a:gd name="adj1" fmla="val 50000"/>
              <a:gd name="adj2" fmla="val 603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Yields 53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661EB5-1B59-CDD7-F3D3-9AF304729520}"/>
              </a:ext>
            </a:extLst>
          </p:cNvPr>
          <p:cNvSpPr txBox="1"/>
          <p:nvPr/>
        </p:nvSpPr>
        <p:spPr>
          <a:xfrm>
            <a:off x="251520" y="1881592"/>
            <a:ext cx="19639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CA" sz="1800" dirty="0"/>
              <a:t>eggs = 53</a:t>
            </a:r>
          </a:p>
          <a:p>
            <a:pPr marL="0" indent="0">
              <a:buNone/>
            </a:pPr>
            <a:r>
              <a:rPr lang="en-CA" sz="1800" dirty="0"/>
              <a:t>def </a:t>
            </a:r>
            <a:r>
              <a:rPr lang="en-CA" sz="1800" dirty="0" err="1"/>
              <a:t>testFunction</a:t>
            </a:r>
            <a:r>
              <a:rPr lang="en-CA" sz="1800" dirty="0"/>
              <a:t> ():</a:t>
            </a:r>
          </a:p>
          <a:p>
            <a:pPr marL="0" indent="0">
              <a:buNone/>
            </a:pPr>
            <a:r>
              <a:rPr lang="en-CA" sz="1800" dirty="0"/>
              <a:t>  global eggs</a:t>
            </a:r>
          </a:p>
          <a:p>
            <a:pPr marL="0" indent="0">
              <a:buNone/>
            </a:pPr>
            <a:r>
              <a:rPr lang="en-CA" sz="1800" dirty="0"/>
              <a:t>  eggs = 29</a:t>
            </a:r>
          </a:p>
          <a:p>
            <a:pPr marL="0" indent="0">
              <a:buNone/>
            </a:pPr>
            <a:endParaRPr lang="en-CA" sz="1800" dirty="0"/>
          </a:p>
          <a:p>
            <a:pPr marL="0" indent="0">
              <a:buNone/>
            </a:pPr>
            <a:r>
              <a:rPr lang="en-CA" sz="1800" dirty="0" err="1"/>
              <a:t>testFunction</a:t>
            </a:r>
            <a:r>
              <a:rPr lang="en-CA" sz="1800" dirty="0"/>
              <a:t>()</a:t>
            </a:r>
          </a:p>
          <a:p>
            <a:pPr marL="0" indent="0">
              <a:buNone/>
            </a:pPr>
            <a:r>
              <a:rPr lang="en-CA" sz="1800" dirty="0"/>
              <a:t>print (eggs)</a:t>
            </a:r>
          </a:p>
          <a:p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AEA973-DD3F-E18F-B820-7E6827B4F21B}"/>
              </a:ext>
            </a:extLst>
          </p:cNvPr>
          <p:cNvSpPr txBox="1"/>
          <p:nvPr/>
        </p:nvSpPr>
        <p:spPr>
          <a:xfrm>
            <a:off x="3090916" y="3035754"/>
            <a:ext cx="196399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CA" sz="1800" dirty="0"/>
              <a:t>eggs = 53</a:t>
            </a:r>
          </a:p>
          <a:p>
            <a:pPr marL="0" indent="0">
              <a:buNone/>
            </a:pPr>
            <a:r>
              <a:rPr lang="en-CA" sz="1800" dirty="0"/>
              <a:t>def </a:t>
            </a:r>
            <a:r>
              <a:rPr lang="en-CA" sz="1800" dirty="0" err="1"/>
              <a:t>testFunction</a:t>
            </a:r>
            <a:r>
              <a:rPr lang="en-CA" sz="1800" dirty="0"/>
              <a:t> ():</a:t>
            </a:r>
          </a:p>
          <a:p>
            <a:pPr marL="0" indent="0">
              <a:buNone/>
            </a:pPr>
            <a:r>
              <a:rPr lang="en-CA" sz="1800" dirty="0"/>
              <a:t>  eggs = 29</a:t>
            </a:r>
          </a:p>
          <a:p>
            <a:pPr marL="0" indent="0">
              <a:buNone/>
            </a:pPr>
            <a:endParaRPr lang="en-CA" sz="1800" dirty="0"/>
          </a:p>
          <a:p>
            <a:pPr marL="0" indent="0">
              <a:buNone/>
            </a:pPr>
            <a:r>
              <a:rPr lang="en-CA" sz="1800" dirty="0" err="1"/>
              <a:t>testFunction</a:t>
            </a:r>
            <a:r>
              <a:rPr lang="en-CA" sz="1800" dirty="0"/>
              <a:t>()</a:t>
            </a:r>
          </a:p>
          <a:p>
            <a:pPr marL="0" indent="0">
              <a:buNone/>
            </a:pPr>
            <a:r>
              <a:rPr lang="en-CA" sz="1800" dirty="0"/>
              <a:t>print (eggs)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64688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2322" y="624110"/>
            <a:ext cx="3766137" cy="1280890"/>
          </a:xfrm>
        </p:spPr>
        <p:txBody>
          <a:bodyPr>
            <a:normAutofit/>
          </a:bodyPr>
          <a:lstStyle/>
          <a:p>
            <a:r>
              <a:rPr lang="en-CA" dirty="0"/>
              <a:t>Importing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8643" y="2133600"/>
            <a:ext cx="3799814" cy="3777622"/>
          </a:xfrm>
        </p:spPr>
        <p:txBody>
          <a:bodyPr>
            <a:normAutofit/>
          </a:bodyPr>
          <a:lstStyle/>
          <a:p>
            <a:r>
              <a:rPr lang="en-CA" sz="1700" dirty="0"/>
              <a:t>Before you can use a Python function, you may have to import the module that contains the function. </a:t>
            </a:r>
          </a:p>
          <a:p>
            <a:r>
              <a:rPr lang="en-CA" sz="1700" dirty="0"/>
              <a:t>However, all Python programs can call a basic set of functions called built-in-functions, such as print(), input () and </a:t>
            </a:r>
            <a:r>
              <a:rPr lang="en-CA" sz="1700" dirty="0" err="1"/>
              <a:t>len</a:t>
            </a:r>
            <a:r>
              <a:rPr lang="en-CA" sz="1700" dirty="0"/>
              <a:t>(), which do not require an import statement.</a:t>
            </a:r>
          </a:p>
          <a:p>
            <a:r>
              <a:rPr lang="en-CA" sz="1700" dirty="0"/>
              <a:t>By conventions all import statements must appear at the top of your code.</a:t>
            </a:r>
          </a:p>
        </p:txBody>
      </p:sp>
      <p:pic>
        <p:nvPicPr>
          <p:cNvPr id="5" name="Picture 4" descr="Yellow python">
            <a:extLst>
              <a:ext uri="{FF2B5EF4-FFF2-40B4-BE49-F238E27FC236}">
                <a16:creationId xmlns:a16="http://schemas.microsoft.com/office/drawing/2014/main" id="{B66F9F84-2093-5C47-021E-16A9973E08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956" r="37690" b="-2"/>
          <a:stretch/>
        </p:blipFill>
        <p:spPr>
          <a:xfrm>
            <a:off x="-1166" y="1731"/>
            <a:ext cx="3503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758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2322" y="624110"/>
            <a:ext cx="3766137" cy="1280890"/>
          </a:xfrm>
        </p:spPr>
        <p:txBody>
          <a:bodyPr>
            <a:normAutofit/>
          </a:bodyPr>
          <a:lstStyle/>
          <a:p>
            <a:r>
              <a:rPr lang="en-CA" dirty="0"/>
              <a:t>Importing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8643" y="2133600"/>
            <a:ext cx="3799814" cy="377762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1500"/>
              <a:t>To import a module you simply use the import keyword and the name of the module. (You can import multiple modules with a comma separated list.)  Once a module is imported you can use the functions within the module.</a:t>
            </a:r>
          </a:p>
          <a:p>
            <a:pPr>
              <a:lnSpc>
                <a:spcPct val="90000"/>
              </a:lnSpc>
            </a:pPr>
            <a:endParaRPr lang="en-CA" sz="1500"/>
          </a:p>
          <a:p>
            <a:pPr marL="0" indent="0">
              <a:lnSpc>
                <a:spcPct val="90000"/>
              </a:lnSpc>
              <a:buNone/>
            </a:pPr>
            <a:r>
              <a:rPr lang="en-CA" sz="1500"/>
              <a:t>Example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CA" sz="1500" b="1"/>
              <a:t>import random</a:t>
            </a:r>
          </a:p>
          <a:p>
            <a:pPr marL="0" indent="0">
              <a:lnSpc>
                <a:spcPct val="90000"/>
              </a:lnSpc>
              <a:buNone/>
            </a:pPr>
            <a:endParaRPr lang="en-CA" sz="1500"/>
          </a:p>
          <a:p>
            <a:pPr marL="0" indent="0">
              <a:lnSpc>
                <a:spcPct val="90000"/>
              </a:lnSpc>
              <a:buNone/>
            </a:pPr>
            <a:r>
              <a:rPr lang="en-CA" sz="1500"/>
              <a:t>This statement allows us to now use the functions within the random module.</a:t>
            </a:r>
          </a:p>
        </p:txBody>
      </p:sp>
      <p:pic>
        <p:nvPicPr>
          <p:cNvPr id="5" name="Picture 4" descr="Microchips on a circuit board">
            <a:extLst>
              <a:ext uri="{FF2B5EF4-FFF2-40B4-BE49-F238E27FC236}">
                <a16:creationId xmlns:a16="http://schemas.microsoft.com/office/drawing/2014/main" id="{9D351979-0215-8C2F-7CAB-A3A80788CE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110" r="32577"/>
          <a:stretch/>
        </p:blipFill>
        <p:spPr>
          <a:xfrm>
            <a:off x="-1166" y="1731"/>
            <a:ext cx="3503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18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2322" y="624110"/>
            <a:ext cx="3766137" cy="1280890"/>
          </a:xfrm>
        </p:spPr>
        <p:txBody>
          <a:bodyPr>
            <a:normAutofit/>
          </a:bodyPr>
          <a:lstStyle/>
          <a:p>
            <a:r>
              <a:rPr lang="en-CA" dirty="0"/>
              <a:t>The </a:t>
            </a:r>
            <a:r>
              <a:rPr lang="en-CA" dirty="0" err="1"/>
              <a:t>randint</a:t>
            </a:r>
            <a:r>
              <a:rPr lang="en-CA" dirty="0"/>
              <a:t>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8643" y="2133600"/>
            <a:ext cx="3799814" cy="377762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1700"/>
              <a:t>The </a:t>
            </a:r>
            <a:r>
              <a:rPr lang="en-CA" sz="1700" err="1"/>
              <a:t>randint</a:t>
            </a:r>
            <a:r>
              <a:rPr lang="en-CA" sz="1700"/>
              <a:t>() function is part of the random module.</a:t>
            </a:r>
          </a:p>
          <a:p>
            <a:pPr>
              <a:lnSpc>
                <a:spcPct val="90000"/>
              </a:lnSpc>
            </a:pPr>
            <a:endParaRPr lang="en-CA" sz="1700"/>
          </a:p>
          <a:p>
            <a:pPr>
              <a:lnSpc>
                <a:spcPct val="90000"/>
              </a:lnSpc>
            </a:pPr>
            <a:r>
              <a:rPr lang="en-CA" sz="1700"/>
              <a:t>To call this function you must use the module name, the dot operator  “.” , and the name of the function.</a:t>
            </a:r>
          </a:p>
          <a:p>
            <a:pPr>
              <a:lnSpc>
                <a:spcPct val="90000"/>
              </a:lnSpc>
            </a:pPr>
            <a:endParaRPr lang="en-CA" sz="1700"/>
          </a:p>
          <a:p>
            <a:pPr>
              <a:lnSpc>
                <a:spcPct val="90000"/>
              </a:lnSpc>
            </a:pPr>
            <a:r>
              <a:rPr lang="en-CA" sz="1700"/>
              <a:t>The </a:t>
            </a:r>
            <a:r>
              <a:rPr lang="en-CA" sz="1700" err="1"/>
              <a:t>randint</a:t>
            </a:r>
            <a:r>
              <a:rPr lang="en-CA" sz="1700"/>
              <a:t>() function evaluates to a </a:t>
            </a:r>
            <a:r>
              <a:rPr lang="en-CA" sz="1700" u="sng"/>
              <a:t>random</a:t>
            </a:r>
            <a:r>
              <a:rPr lang="en-CA" sz="1700"/>
              <a:t> integer value between (and including) the two numbers passed into the function as arguments.</a:t>
            </a:r>
          </a:p>
          <a:p>
            <a:pPr marL="0" indent="0">
              <a:lnSpc>
                <a:spcPct val="90000"/>
              </a:lnSpc>
              <a:buNone/>
            </a:pPr>
            <a:endParaRPr lang="en-CA" sz="1700"/>
          </a:p>
        </p:txBody>
      </p:sp>
      <p:pic>
        <p:nvPicPr>
          <p:cNvPr id="5" name="Picture 4" descr="Close-up of a calculator keypad">
            <a:extLst>
              <a:ext uri="{FF2B5EF4-FFF2-40B4-BE49-F238E27FC236}">
                <a16:creationId xmlns:a16="http://schemas.microsoft.com/office/drawing/2014/main" id="{9EFCEBDD-467B-FA29-7EA1-D66E43B210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61" r="36396" b="-1"/>
          <a:stretch/>
        </p:blipFill>
        <p:spPr>
          <a:xfrm>
            <a:off x="-1166" y="1731"/>
            <a:ext cx="3503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068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85412-5080-8FB0-5EB1-1B900658E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</a:t>
            </a:r>
            <a:r>
              <a:rPr lang="en-CA" dirty="0" err="1"/>
              <a:t>randint</a:t>
            </a:r>
            <a:r>
              <a:rPr lang="en-CA" dirty="0"/>
              <a:t>()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62ADA9-39BA-3FB2-6FF6-77255CFDF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578" y="1905000"/>
            <a:ext cx="7248843" cy="374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29010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9917</TotalTime>
  <Words>1201</Words>
  <Application>Microsoft Office PowerPoint</Application>
  <PresentationFormat>On-screen Show (4:3)</PresentationFormat>
  <Paragraphs>192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Gill Sans MT</vt:lpstr>
      <vt:lpstr>Gallery</vt:lpstr>
      <vt:lpstr>COMP 1112  Document Automation using python</vt:lpstr>
      <vt:lpstr>Strategies of a successful student</vt:lpstr>
      <vt:lpstr>Communicating with the instructor</vt:lpstr>
      <vt:lpstr>Review</vt:lpstr>
      <vt:lpstr>Defining your own functions</vt:lpstr>
      <vt:lpstr>Understanding functions</vt:lpstr>
      <vt:lpstr>Understanding functions</vt:lpstr>
      <vt:lpstr>Defining your own functions</vt:lpstr>
      <vt:lpstr>Defining your own functions</vt:lpstr>
      <vt:lpstr>Defining functions with parameters</vt:lpstr>
      <vt:lpstr>Defining functions with parameters</vt:lpstr>
      <vt:lpstr>Return values and return statements</vt:lpstr>
      <vt:lpstr>Return values and return statements</vt:lpstr>
      <vt:lpstr>The none value</vt:lpstr>
      <vt:lpstr>Local and Global Scope</vt:lpstr>
      <vt:lpstr>Local and Global Scope</vt:lpstr>
      <vt:lpstr>Local and Global Scope</vt:lpstr>
      <vt:lpstr>Local and Global Scope</vt:lpstr>
      <vt:lpstr>Local and Global Scope</vt:lpstr>
      <vt:lpstr>Importing Modules</vt:lpstr>
      <vt:lpstr>Importing Modules</vt:lpstr>
      <vt:lpstr>The randint() function</vt:lpstr>
      <vt:lpstr>The randint() function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wayne brown</cp:lastModifiedBy>
  <cp:revision>256</cp:revision>
  <dcterms:created xsi:type="dcterms:W3CDTF">2018-09-05T00:56:20Z</dcterms:created>
  <dcterms:modified xsi:type="dcterms:W3CDTF">2026-01-13T02:03:39Z</dcterms:modified>
</cp:coreProperties>
</file>