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92" r:id="rId3"/>
    <p:sldId id="293" r:id="rId4"/>
    <p:sldId id="258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8" r:id="rId13"/>
    <p:sldId id="272" r:id="rId14"/>
    <p:sldId id="274" r:id="rId15"/>
    <p:sldId id="273" r:id="rId16"/>
    <p:sldId id="275" r:id="rId17"/>
    <p:sldId id="294" r:id="rId18"/>
    <p:sldId id="279" r:id="rId19"/>
    <p:sldId id="280" r:id="rId20"/>
    <p:sldId id="278" r:id="rId21"/>
    <p:sldId id="282" r:id="rId22"/>
    <p:sldId id="283" r:id="rId23"/>
    <p:sldId id="259" r:id="rId24"/>
    <p:sldId id="285" r:id="rId25"/>
    <p:sldId id="287" r:id="rId26"/>
    <p:sldId id="289" r:id="rId27"/>
    <p:sldId id="288" r:id="rId28"/>
    <p:sldId id="290" r:id="rId29"/>
    <p:sldId id="267" r:id="rId30"/>
    <p:sldId id="291" r:id="rId31"/>
    <p:sldId id="295" r:id="rId32"/>
    <p:sldId id="269" r:id="rId33"/>
    <p:sldId id="270" r:id="rId34"/>
    <p:sldId id="271" r:id="rId35"/>
    <p:sldId id="296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2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23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370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80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190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737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66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966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28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19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841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4787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7835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825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8507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5028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6103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571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67EAE-8321-45C8-8ED7-D324A279D739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65563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wayne.brown@georgiancollege.c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 1112 </a:t>
            </a:r>
            <a:br>
              <a:rPr lang="en-CA" dirty="0"/>
            </a:br>
            <a:r>
              <a:rPr lang="en-CA" sz="4000" dirty="0"/>
              <a:t>Document Automation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Lecture #2</a:t>
            </a:r>
          </a:p>
          <a:p>
            <a:r>
              <a:rPr lang="en-CA" dirty="0"/>
              <a:t>Flow Control</a:t>
            </a:r>
          </a:p>
        </p:txBody>
      </p:sp>
    </p:spTree>
    <p:extLst>
      <p:ext uri="{BB962C8B-B14F-4D97-AF65-F5344CB8AC3E}">
        <p14:creationId xmlns:p14="http://schemas.microsoft.com/office/powerpoint/2010/main" val="417239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479" y="535479"/>
            <a:ext cx="3785781" cy="1207008"/>
          </a:xfrm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en-CA" dirty="0"/>
              <a:t>Strategies of a successful student</a:t>
            </a:r>
          </a:p>
        </p:txBody>
      </p:sp>
      <p:pic>
        <p:nvPicPr>
          <p:cNvPr id="5" name="Picture 4" descr="Glasses on top of a book">
            <a:extLst>
              <a:ext uri="{FF2B5EF4-FFF2-40B4-BE49-F238E27FC236}">
                <a16:creationId xmlns:a16="http://schemas.microsoft.com/office/drawing/2014/main" id="{C1C8B974-D671-7D4D-19B0-954D0D8F7A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01" r="45833" b="-1"/>
          <a:stretch/>
        </p:blipFill>
        <p:spPr>
          <a:xfrm>
            <a:off x="107504" y="1138983"/>
            <a:ext cx="3363128" cy="514349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687" y="2448305"/>
            <a:ext cx="3785780" cy="3874215"/>
          </a:xfrm>
        </p:spPr>
        <p:txBody>
          <a:bodyPr>
            <a:normAutofit fontScale="62500" lnSpcReduction="20000"/>
          </a:bodyPr>
          <a:lstStyle/>
          <a:p>
            <a:r>
              <a:rPr lang="en-CA" b="1" dirty="0">
                <a:latin typeface="Cambria" panose="02040503050406030204" pitchFamily="18" charset="0"/>
                <a:ea typeface="Cambria" panose="02040503050406030204" pitchFamily="18" charset="0"/>
              </a:rPr>
              <a:t>BEFORE THE LECTURE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Study the lecture slides and write down any questions you have as you are studying.</a:t>
            </a:r>
          </a:p>
          <a:p>
            <a:r>
              <a:rPr lang="en-CA" b="1" dirty="0">
                <a:latin typeface="Cambria" panose="02040503050406030204" pitchFamily="18" charset="0"/>
                <a:ea typeface="Cambria" panose="02040503050406030204" pitchFamily="18" charset="0"/>
              </a:rPr>
              <a:t>DURING THE LECTURE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Arrive on time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Engage in the lecture, listen intently for understanding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Ask questions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Write notes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Attend every lecture</a:t>
            </a:r>
          </a:p>
          <a:p>
            <a:r>
              <a:rPr lang="en-CA" b="1" dirty="0">
                <a:latin typeface="Cambria" panose="02040503050406030204" pitchFamily="18" charset="0"/>
                <a:ea typeface="Cambria" panose="02040503050406030204" pitchFamily="18" charset="0"/>
              </a:rPr>
              <a:t>AFTER THE LECTURE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Study the lecture slides with a study group.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Re-do the coding element of the in-class assignment.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Practice writing python code daily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Leverage the tutorial help at the library when needed</a:t>
            </a:r>
          </a:p>
          <a:p>
            <a:pPr lvl="1"/>
            <a:r>
              <a:rPr lang="en-CA" sz="1900" dirty="0">
                <a:latin typeface="Cambria" panose="02040503050406030204" pitchFamily="18" charset="0"/>
                <a:ea typeface="Cambria" panose="02040503050406030204" pitchFamily="18" charset="0"/>
              </a:rPr>
              <a:t>Leverage the reference links on blackboard when needed</a:t>
            </a:r>
          </a:p>
          <a:p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168286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9276" y="1112960"/>
            <a:ext cx="4777180" cy="1207008"/>
          </a:xfrm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en-CA" dirty="0"/>
              <a:t>Communicating with the instructor</a:t>
            </a:r>
          </a:p>
        </p:txBody>
      </p:sp>
      <p:pic>
        <p:nvPicPr>
          <p:cNvPr id="5" name="Picture 4" descr="Glasses on top of a book">
            <a:extLst>
              <a:ext uri="{FF2B5EF4-FFF2-40B4-BE49-F238E27FC236}">
                <a16:creationId xmlns:a16="http://schemas.microsoft.com/office/drawing/2014/main" id="{C1C8B974-D671-7D4D-19B0-954D0D8F7A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01" r="45833" b="-1"/>
          <a:stretch/>
        </p:blipFill>
        <p:spPr>
          <a:xfrm>
            <a:off x="179512" y="1119021"/>
            <a:ext cx="3189847" cy="514349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9276" y="3018986"/>
            <a:ext cx="3785780" cy="3038094"/>
          </a:xfrm>
        </p:spPr>
        <p:txBody>
          <a:bodyPr>
            <a:normAutofit/>
          </a:bodyPr>
          <a:lstStyle/>
          <a:p>
            <a:r>
              <a:rPr lang="en-CA" sz="1400" b="1" u="sng" dirty="0"/>
              <a:t>Only</a:t>
            </a:r>
            <a:r>
              <a:rPr lang="en-CA" sz="1400" dirty="0"/>
              <a:t> communicate with the instructor using email: </a:t>
            </a:r>
            <a:r>
              <a:rPr lang="en-CA" sz="1400" dirty="0">
                <a:hlinkClick r:id="rId3"/>
              </a:rPr>
              <a:t>wayne.brown@georgiancollege.ca</a:t>
            </a:r>
            <a:endParaRPr lang="en-CA" sz="1400" dirty="0"/>
          </a:p>
          <a:p>
            <a:pPr marL="0" indent="0">
              <a:buNone/>
            </a:pPr>
            <a:endParaRPr lang="en-CA" sz="1200" dirty="0"/>
          </a:p>
          <a:p>
            <a:r>
              <a:rPr lang="en-CA" sz="1400" b="1" u="sng" dirty="0"/>
              <a:t>Do not </a:t>
            </a:r>
            <a:r>
              <a:rPr lang="en-CA" sz="1400" dirty="0"/>
              <a:t>use blackboard messaging to communicate with the instructor – messages received via blackboard messaging will not be seen and therefore will not be answered</a:t>
            </a:r>
          </a:p>
          <a:p>
            <a:pPr marL="0" indent="0">
              <a:buNone/>
            </a:pP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268357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sz="2400" dirty="0"/>
              <a:t>Python operators</a:t>
            </a:r>
          </a:p>
          <a:p>
            <a:r>
              <a:rPr lang="en-CA" sz="2400" dirty="0"/>
              <a:t>Python data types</a:t>
            </a:r>
          </a:p>
          <a:p>
            <a:r>
              <a:rPr lang="en-CA" sz="2400" dirty="0"/>
              <a:t>Concatenation and Replication</a:t>
            </a:r>
          </a:p>
          <a:p>
            <a:r>
              <a:rPr lang="en-CA" sz="2400" dirty="0"/>
              <a:t>Course coding conventions</a:t>
            </a:r>
          </a:p>
          <a:p>
            <a:r>
              <a:rPr lang="en-CA" sz="2400" dirty="0"/>
              <a:t>Commenting</a:t>
            </a:r>
          </a:p>
          <a:p>
            <a:r>
              <a:rPr lang="en-CA" sz="2400" dirty="0"/>
              <a:t>print()</a:t>
            </a:r>
          </a:p>
          <a:p>
            <a:r>
              <a:rPr lang="en-CA" sz="2400" dirty="0"/>
              <a:t>Input()</a:t>
            </a:r>
          </a:p>
          <a:p>
            <a:r>
              <a:rPr lang="en-CA" sz="2400" dirty="0" err="1"/>
              <a:t>len</a:t>
            </a:r>
            <a:r>
              <a:rPr lang="en-CA" sz="2400" dirty="0"/>
              <a:t>()</a:t>
            </a:r>
          </a:p>
          <a:p>
            <a:r>
              <a:rPr lang="en-CA" sz="2400" dirty="0"/>
              <a:t>type casting</a:t>
            </a:r>
          </a:p>
          <a:p>
            <a:endParaRPr lang="en-CA" sz="2400" dirty="0"/>
          </a:p>
          <a:p>
            <a:endParaRPr lang="en-CA" sz="2400" dirty="0"/>
          </a:p>
          <a:p>
            <a:endParaRPr lang="en-CA" sz="1400" dirty="0"/>
          </a:p>
          <a:p>
            <a:pPr marL="0" indent="0">
              <a:buNone/>
            </a:pPr>
            <a:endParaRPr lang="en-CA" sz="24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128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3200" dirty="0"/>
              <a:t>Flow control statements can decide which Python instructions to execute under which conditions.</a:t>
            </a:r>
          </a:p>
        </p:txBody>
      </p:sp>
    </p:spTree>
    <p:extLst>
      <p:ext uri="{BB962C8B-B14F-4D97-AF65-F5344CB8AC3E}">
        <p14:creationId xmlns:p14="http://schemas.microsoft.com/office/powerpoint/2010/main" val="136663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Boolean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Boolean data type has only two values: </a:t>
            </a:r>
          </a:p>
          <a:p>
            <a:pPr marL="0" indent="0" algn="ctr">
              <a:buNone/>
            </a:pPr>
            <a:r>
              <a:rPr lang="en-CA" dirty="0"/>
              <a:t>True &amp; False</a:t>
            </a:r>
          </a:p>
          <a:p>
            <a:pPr marL="0" indent="0" algn="ctr">
              <a:buNone/>
            </a:pPr>
            <a:r>
              <a:rPr lang="en-CA" dirty="0"/>
              <a:t> </a:t>
            </a:r>
            <a:r>
              <a:rPr lang="en-CA" sz="1400" dirty="0"/>
              <a:t>(note the capital T and F)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True or False can be stored in a variable:</a:t>
            </a:r>
          </a:p>
          <a:p>
            <a:pPr marL="0" indent="0" algn="ctr">
              <a:buNone/>
            </a:pPr>
            <a:r>
              <a:rPr lang="en-CA" dirty="0" err="1"/>
              <a:t>connectedToWifi</a:t>
            </a:r>
            <a:r>
              <a:rPr lang="en-CA" dirty="0"/>
              <a:t> = True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56062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==  (equal to) asks whether two values are the same as each other</a:t>
            </a:r>
          </a:p>
          <a:p>
            <a:pPr marL="0" indent="0" algn="ctr">
              <a:buNone/>
            </a:pPr>
            <a:r>
              <a:rPr lang="en-CA" dirty="0"/>
              <a:t>Reminder</a:t>
            </a:r>
          </a:p>
          <a:p>
            <a:pPr marL="0" indent="0" algn="ctr">
              <a:buNone/>
            </a:pPr>
            <a:endParaRPr lang="en-CA" dirty="0"/>
          </a:p>
          <a:p>
            <a:r>
              <a:rPr lang="en-CA" dirty="0"/>
              <a:t>=   (assignment) puts the value on the RIGHT into the memory location named by the variable on the LEFT</a:t>
            </a:r>
          </a:p>
          <a:p>
            <a:pPr marL="0" indent="0" algn="ctr">
              <a:buNone/>
            </a:pPr>
            <a:r>
              <a:rPr lang="en-CA" dirty="0" err="1"/>
              <a:t>firstName</a:t>
            </a:r>
            <a:r>
              <a:rPr lang="en-CA" dirty="0"/>
              <a:t> = “Billy”</a:t>
            </a:r>
          </a:p>
          <a:p>
            <a:endParaRPr lang="en-C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307" y="5157192"/>
            <a:ext cx="2659385" cy="1593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786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== equal to</a:t>
            </a:r>
          </a:p>
          <a:p>
            <a:r>
              <a:rPr lang="en-CA" dirty="0"/>
              <a:t>!=  not equal to</a:t>
            </a:r>
          </a:p>
          <a:p>
            <a:r>
              <a:rPr lang="en-CA" dirty="0"/>
              <a:t>&lt;  less than</a:t>
            </a:r>
          </a:p>
          <a:p>
            <a:r>
              <a:rPr lang="en-CA" dirty="0"/>
              <a:t>&gt; greater than</a:t>
            </a:r>
          </a:p>
          <a:p>
            <a:r>
              <a:rPr lang="en-CA" dirty="0"/>
              <a:t>&lt;= less than or equal to</a:t>
            </a:r>
          </a:p>
          <a:p>
            <a:r>
              <a:rPr lang="en-CA" dirty="0"/>
              <a:t>&gt;=  greater than or equal to</a:t>
            </a:r>
          </a:p>
          <a:p>
            <a:endParaRPr lang="en-CA" dirty="0"/>
          </a:p>
          <a:p>
            <a:pPr marL="0" indent="0" algn="ctr">
              <a:buNone/>
            </a:pPr>
            <a:r>
              <a:rPr lang="en-CA" dirty="0"/>
              <a:t>These operators will evaluate to True or False depending on their operands.		</a:t>
            </a:r>
          </a:p>
        </p:txBody>
      </p:sp>
    </p:spTree>
    <p:extLst>
      <p:ext uri="{BB962C8B-B14F-4D97-AF65-F5344CB8AC3E}">
        <p14:creationId xmlns:p14="http://schemas.microsoft.com/office/powerpoint/2010/main" val="12313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 Operator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42 == 42    		True</a:t>
            </a:r>
          </a:p>
          <a:p>
            <a:r>
              <a:rPr lang="en-CA" dirty="0"/>
              <a:t>2 != 3           		True</a:t>
            </a:r>
          </a:p>
          <a:p>
            <a:r>
              <a:rPr lang="en-CA" dirty="0"/>
              <a:t>2 &gt; 3         		False</a:t>
            </a:r>
          </a:p>
          <a:p>
            <a:r>
              <a:rPr lang="en-CA" dirty="0"/>
              <a:t>‘hello’ ==‘hello’      	True</a:t>
            </a:r>
          </a:p>
          <a:p>
            <a:r>
              <a:rPr lang="en-CA" dirty="0"/>
              <a:t>‘hello’ == ‘Hello’  	False</a:t>
            </a:r>
          </a:p>
          <a:p>
            <a:r>
              <a:rPr lang="en-CA" dirty="0"/>
              <a:t>42 == 42.0   		True</a:t>
            </a:r>
          </a:p>
          <a:p>
            <a:r>
              <a:rPr lang="en-CA" dirty="0"/>
              <a:t>42 == ’42’    		False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sz="2400" b="1" dirty="0"/>
              <a:t>== and != can work with any data type</a:t>
            </a:r>
          </a:p>
          <a:p>
            <a:pPr marL="0" indent="0" algn="ctr">
              <a:buNone/>
            </a:pPr>
            <a:r>
              <a:rPr lang="en-CA" sz="2400" b="1" dirty="0"/>
              <a:t>&lt;,&gt;,&lt;=,&gt;= work properly only with integer and floating point values</a:t>
            </a:r>
          </a:p>
          <a:p>
            <a:pPr marL="0" indent="0" algn="ctr">
              <a:buNone/>
            </a:pPr>
            <a:r>
              <a:rPr lang="en-CA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7273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Boolean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There are three Boolean operators used to compare Boolean values (True or False):  and, or, not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sz="1800" dirty="0"/>
              <a:t>False </a:t>
            </a:r>
            <a:r>
              <a:rPr lang="en-CA" sz="1800" b="1" dirty="0"/>
              <a:t>and</a:t>
            </a:r>
            <a:r>
              <a:rPr lang="en-CA" sz="1800" dirty="0"/>
              <a:t> False 	evaluates to 	False</a:t>
            </a:r>
          </a:p>
          <a:p>
            <a:pPr marL="0" indent="0" algn="ctr">
              <a:buNone/>
            </a:pPr>
            <a:r>
              <a:rPr lang="en-CA" sz="1800" dirty="0"/>
              <a:t>False </a:t>
            </a:r>
            <a:r>
              <a:rPr lang="en-CA" sz="1800" b="1" dirty="0"/>
              <a:t>and</a:t>
            </a:r>
            <a:r>
              <a:rPr lang="en-CA" sz="1800" dirty="0"/>
              <a:t> True 	evaluates to 	False</a:t>
            </a:r>
          </a:p>
          <a:p>
            <a:pPr marL="0" indent="0" algn="ctr">
              <a:buNone/>
            </a:pPr>
            <a:r>
              <a:rPr lang="en-CA" sz="1800" dirty="0"/>
              <a:t>True </a:t>
            </a:r>
            <a:r>
              <a:rPr lang="en-CA" sz="1800" b="1" dirty="0"/>
              <a:t>and</a:t>
            </a:r>
            <a:r>
              <a:rPr lang="en-CA" sz="1800" dirty="0"/>
              <a:t> False 	evaluates to 	False</a:t>
            </a:r>
          </a:p>
          <a:p>
            <a:pPr marL="0" indent="0" algn="ctr">
              <a:buNone/>
            </a:pPr>
            <a:r>
              <a:rPr lang="en-CA" sz="1800" dirty="0"/>
              <a:t>True </a:t>
            </a:r>
            <a:r>
              <a:rPr lang="en-CA" sz="1800" b="1" dirty="0"/>
              <a:t>and</a:t>
            </a:r>
            <a:r>
              <a:rPr lang="en-CA" sz="1800" dirty="0"/>
              <a:t> True 	evaluates to 	True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sz="1800" dirty="0"/>
              <a:t>False </a:t>
            </a:r>
            <a:r>
              <a:rPr lang="en-CA" sz="1800" b="1" dirty="0"/>
              <a:t>or</a:t>
            </a:r>
            <a:r>
              <a:rPr lang="en-CA" sz="1800" dirty="0"/>
              <a:t> False 	evaluates to 	False</a:t>
            </a:r>
          </a:p>
          <a:p>
            <a:pPr marL="0" indent="0" algn="ctr">
              <a:buNone/>
            </a:pPr>
            <a:r>
              <a:rPr lang="en-CA" sz="1800" dirty="0"/>
              <a:t>False </a:t>
            </a:r>
            <a:r>
              <a:rPr lang="en-CA" sz="1800" b="1" dirty="0"/>
              <a:t>or</a:t>
            </a:r>
            <a:r>
              <a:rPr lang="en-CA" sz="1800" dirty="0"/>
              <a:t> True 	evaluates to 	True</a:t>
            </a:r>
          </a:p>
          <a:p>
            <a:pPr marL="0" indent="0" algn="ctr">
              <a:buNone/>
            </a:pPr>
            <a:r>
              <a:rPr lang="en-CA" sz="1800" dirty="0"/>
              <a:t>True </a:t>
            </a:r>
            <a:r>
              <a:rPr lang="en-CA" sz="1800" b="1" dirty="0"/>
              <a:t>or </a:t>
            </a:r>
            <a:r>
              <a:rPr lang="en-CA" sz="1800" dirty="0"/>
              <a:t>False 	evaluates to 	True</a:t>
            </a:r>
          </a:p>
          <a:p>
            <a:pPr marL="0" indent="0" algn="ctr">
              <a:buNone/>
            </a:pPr>
            <a:r>
              <a:rPr lang="en-CA" sz="1800" dirty="0"/>
              <a:t>True </a:t>
            </a:r>
            <a:r>
              <a:rPr lang="en-CA" sz="1800" b="1" dirty="0"/>
              <a:t>or</a:t>
            </a:r>
            <a:r>
              <a:rPr lang="en-CA" sz="1800" dirty="0"/>
              <a:t> True 	evaluates to 	True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574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Boolean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b="1" dirty="0"/>
              <a:t>not</a:t>
            </a:r>
            <a:r>
              <a:rPr lang="en-CA" dirty="0"/>
              <a:t> operator operates on only </a:t>
            </a:r>
            <a:r>
              <a:rPr lang="en-CA" b="1" dirty="0"/>
              <a:t>one</a:t>
            </a:r>
            <a:r>
              <a:rPr lang="en-CA" dirty="0"/>
              <a:t> Boolean value (or expression that evaluates to a Boolean value).</a:t>
            </a:r>
          </a:p>
          <a:p>
            <a:r>
              <a:rPr lang="en-CA" dirty="0"/>
              <a:t>The </a:t>
            </a:r>
            <a:r>
              <a:rPr lang="en-CA" b="1" dirty="0"/>
              <a:t>not</a:t>
            </a:r>
            <a:r>
              <a:rPr lang="en-CA" dirty="0"/>
              <a:t> operator simply negates (flips) the Boolean value it is operating on.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b="1" dirty="0"/>
              <a:t>not</a:t>
            </a:r>
            <a:r>
              <a:rPr lang="en-CA" dirty="0"/>
              <a:t> True evaluates to False</a:t>
            </a:r>
          </a:p>
          <a:p>
            <a:pPr marL="0" indent="0" algn="ctr">
              <a:buNone/>
            </a:pPr>
            <a:r>
              <a:rPr lang="en-CA" dirty="0"/>
              <a:t>(4&lt;5) </a:t>
            </a:r>
            <a:r>
              <a:rPr lang="en-CA" b="1" dirty="0"/>
              <a:t>and</a:t>
            </a:r>
            <a:r>
              <a:rPr lang="en-CA" dirty="0"/>
              <a:t> (5&lt;6) evaluates to True</a:t>
            </a:r>
          </a:p>
          <a:p>
            <a:pPr marL="0" indent="0" algn="ctr">
              <a:buNone/>
            </a:pPr>
            <a:r>
              <a:rPr lang="en-CA" dirty="0"/>
              <a:t>(1==2) or (2==2) evaluates to True</a:t>
            </a:r>
          </a:p>
        </p:txBody>
      </p:sp>
    </p:spTree>
    <p:extLst>
      <p:ext uri="{BB962C8B-B14F-4D97-AF65-F5344CB8AC3E}">
        <p14:creationId xmlns:p14="http://schemas.microsoft.com/office/powerpoint/2010/main" val="375034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Elements of 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Flow control statements have two parts:</a:t>
            </a:r>
            <a:r>
              <a:rPr lang="en-CA" sz="1400" dirty="0"/>
              <a:t>(condition, code block)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condition</a:t>
            </a:r>
          </a:p>
          <a:p>
            <a:pPr marL="0" indent="0">
              <a:buNone/>
            </a:pPr>
            <a:r>
              <a:rPr lang="en-CA" dirty="0"/>
              <a:t>		code</a:t>
            </a:r>
          </a:p>
          <a:p>
            <a:pPr marL="0" indent="0">
              <a:buNone/>
            </a:pPr>
            <a:r>
              <a:rPr lang="en-CA" dirty="0"/>
              <a:t>		code</a:t>
            </a:r>
          </a:p>
          <a:p>
            <a:pPr marL="0" indent="0">
              <a:buNone/>
            </a:pPr>
            <a:r>
              <a:rPr lang="en-CA" dirty="0"/>
              <a:t>		code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The condition must always evaluate to a Boolean value: True or False</a:t>
            </a:r>
          </a:p>
          <a:p>
            <a:r>
              <a:rPr lang="en-CA" dirty="0"/>
              <a:t>Note that in python the indent is syntactically required</a:t>
            </a:r>
          </a:p>
        </p:txBody>
      </p:sp>
      <p:sp>
        <p:nvSpPr>
          <p:cNvPr id="4" name="Pentagon 3"/>
          <p:cNvSpPr/>
          <p:nvPr/>
        </p:nvSpPr>
        <p:spPr>
          <a:xfrm>
            <a:off x="3434083" y="3429000"/>
            <a:ext cx="1152128" cy="144016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/>
          <p:cNvSpPr txBox="1"/>
          <p:nvPr/>
        </p:nvSpPr>
        <p:spPr>
          <a:xfrm>
            <a:off x="4572000" y="3964414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Code block</a:t>
            </a:r>
          </a:p>
        </p:txBody>
      </p:sp>
    </p:spTree>
    <p:extLst>
      <p:ext uri="{BB962C8B-B14F-4D97-AF65-F5344CB8AC3E}">
        <p14:creationId xmlns:p14="http://schemas.microsoft.com/office/powerpoint/2010/main" val="220826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if</a:t>
            </a:r>
            <a:r>
              <a:rPr lang="en-CA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a given condition is true, execute the code block.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780928"/>
            <a:ext cx="3435798" cy="34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80112" y="6258322"/>
            <a:ext cx="3352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00" dirty="0"/>
              <a:t>http://www.knowledgeshelf.in/python-else-statements-2017/</a:t>
            </a:r>
          </a:p>
        </p:txBody>
      </p:sp>
    </p:spTree>
    <p:extLst>
      <p:ext uri="{BB962C8B-B14F-4D97-AF65-F5344CB8AC3E}">
        <p14:creationId xmlns:p14="http://schemas.microsoft.com/office/powerpoint/2010/main" val="1929510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else Statement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09825" y="2193925"/>
            <a:ext cx="4524350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44208" y="6453336"/>
            <a:ext cx="23423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" dirty="0"/>
              <a:t>https://automatetheboringstuff.com/chapter2/</a:t>
            </a:r>
          </a:p>
        </p:txBody>
      </p:sp>
    </p:spTree>
    <p:extLst>
      <p:ext uri="{BB962C8B-B14F-4D97-AF65-F5344CB8AC3E}">
        <p14:creationId xmlns:p14="http://schemas.microsoft.com/office/powerpoint/2010/main" val="1749224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else</a:t>
            </a:r>
            <a:r>
              <a:rPr lang="en-CA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b="1" dirty="0"/>
              <a:t>else</a:t>
            </a:r>
            <a:r>
              <a:rPr lang="en-CA" dirty="0"/>
              <a:t> block of code is executed only when the </a:t>
            </a:r>
            <a:r>
              <a:rPr lang="en-CA" b="1" dirty="0"/>
              <a:t>if</a:t>
            </a:r>
            <a:r>
              <a:rPr lang="en-CA" dirty="0"/>
              <a:t> statement’s condition is false.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132292"/>
            <a:ext cx="669607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44208" y="6453336"/>
            <a:ext cx="23423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" dirty="0"/>
              <a:t>https://automatetheboringstuff.com/chapter2/</a:t>
            </a:r>
          </a:p>
        </p:txBody>
      </p:sp>
    </p:spTree>
    <p:extLst>
      <p:ext uri="{BB962C8B-B14F-4D97-AF65-F5344CB8AC3E}">
        <p14:creationId xmlns:p14="http://schemas.microsoft.com/office/powerpoint/2010/main" val="127252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elif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elif is an “else-if” statement that is used when you want one of many possible blocks of code to execute based upon </a:t>
            </a:r>
            <a:r>
              <a:rPr lang="en-CA" b="1" u="sng" dirty="0"/>
              <a:t>different</a:t>
            </a:r>
            <a:r>
              <a:rPr lang="en-CA" dirty="0"/>
              <a:t> conditions.</a:t>
            </a:r>
          </a:p>
          <a:p>
            <a:endParaRPr lang="en-CA" dirty="0"/>
          </a:p>
          <a:p>
            <a:r>
              <a:rPr lang="en-CA" dirty="0"/>
              <a:t>When there is a chain of elif statements , only one or none of the blocks of code will be executed.</a:t>
            </a:r>
          </a:p>
        </p:txBody>
      </p:sp>
    </p:spTree>
    <p:extLst>
      <p:ext uri="{BB962C8B-B14F-4D97-AF65-F5344CB8AC3E}">
        <p14:creationId xmlns:p14="http://schemas.microsoft.com/office/powerpoint/2010/main" val="1470989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581" y="484632"/>
            <a:ext cx="5047708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CA" dirty="0" err="1"/>
              <a:t>Elif</a:t>
            </a:r>
            <a:r>
              <a:rPr lang="en-CA" dirty="0"/>
              <a:t> statement</a:t>
            </a:r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FAE578C5-F9A9-98F7-D68D-2F616DB1ED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80" r="32299" b="-1"/>
          <a:stretch/>
        </p:blipFill>
        <p:spPr>
          <a:xfrm>
            <a:off x="2508" y="10"/>
            <a:ext cx="1545156" cy="6857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EEF486-5FEE-F010-5301-CBA6CDD8D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2578608"/>
            <a:ext cx="6884194" cy="331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30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508665"/>
            <a:ext cx="6377940" cy="792420"/>
          </a:xfrm>
        </p:spPr>
        <p:txBody>
          <a:bodyPr/>
          <a:lstStyle/>
          <a:p>
            <a:pPr algn="l"/>
            <a:r>
              <a:rPr lang="en-CA" dirty="0" err="1"/>
              <a:t>elif</a:t>
            </a:r>
            <a:r>
              <a:rPr lang="en-CA" dirty="0"/>
              <a:t> Statement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8725" y="1704975"/>
            <a:ext cx="668655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44208" y="6453336"/>
            <a:ext cx="23423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" dirty="0"/>
              <a:t>https://automatetheboringstuff.com/chapter2/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5F8EE-0B7C-25BE-1B87-246B36A90056}"/>
              </a:ext>
            </a:extLst>
          </p:cNvPr>
          <p:cNvSpPr txBox="1"/>
          <p:nvPr/>
        </p:nvSpPr>
        <p:spPr>
          <a:xfrm>
            <a:off x="827584" y="5877272"/>
            <a:ext cx="7382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Note that when one </a:t>
            </a:r>
            <a:r>
              <a:rPr lang="en-CA" dirty="0" err="1"/>
              <a:t>elif</a:t>
            </a:r>
            <a:r>
              <a:rPr lang="en-CA" dirty="0"/>
              <a:t> statement is True, the others are skipped</a:t>
            </a:r>
          </a:p>
          <a:p>
            <a:r>
              <a:rPr lang="en-CA" dirty="0"/>
              <a:t>even if they are True</a:t>
            </a:r>
          </a:p>
        </p:txBody>
      </p:sp>
    </p:spTree>
    <p:extLst>
      <p:ext uri="{BB962C8B-B14F-4D97-AF65-F5344CB8AC3E}">
        <p14:creationId xmlns:p14="http://schemas.microsoft.com/office/powerpoint/2010/main" val="386006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while Loop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2885" y="2193925"/>
            <a:ext cx="4098229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44208" y="6453336"/>
            <a:ext cx="23423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" dirty="0"/>
              <a:t>https://automatetheboringstuff.com/chapter2/</a:t>
            </a:r>
          </a:p>
        </p:txBody>
      </p:sp>
    </p:spTree>
    <p:extLst>
      <p:ext uri="{BB962C8B-B14F-4D97-AF65-F5344CB8AC3E}">
        <p14:creationId xmlns:p14="http://schemas.microsoft.com/office/powerpoint/2010/main" val="3483696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00808"/>
            <a:ext cx="7955280" cy="4562832"/>
          </a:xfrm>
        </p:spPr>
        <p:txBody>
          <a:bodyPr/>
          <a:lstStyle/>
          <a:p>
            <a:r>
              <a:rPr lang="en-CA" dirty="0"/>
              <a:t>The code block in a while statement will be executed as long as the while statement’s condition is True.</a:t>
            </a:r>
          </a:p>
          <a:p>
            <a:r>
              <a:rPr lang="en-CA" b="1" dirty="0"/>
              <a:t>In this course the use of while True is not permitted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3055624"/>
            <a:ext cx="666750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44208" y="6453336"/>
            <a:ext cx="23423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" dirty="0"/>
              <a:t>https://automatetheboringstuff.com/chapter2/</a:t>
            </a:r>
          </a:p>
        </p:txBody>
      </p:sp>
    </p:spTree>
    <p:extLst>
      <p:ext uri="{BB962C8B-B14F-4D97-AF65-F5344CB8AC3E}">
        <p14:creationId xmlns:p14="http://schemas.microsoft.com/office/powerpoint/2010/main" val="2394721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EF88-0CA4-7513-F3AB-BBFB7448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848" y="200311"/>
            <a:ext cx="5518895" cy="1235298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CA" sz="3500" dirty="0"/>
              <a:t>While Loop – Negative Logic</a:t>
            </a:r>
          </a:p>
        </p:txBody>
      </p:sp>
      <p:pic>
        <p:nvPicPr>
          <p:cNvPr id="5" name="Picture 4" descr="CPU with binary numbers and blueprint">
            <a:extLst>
              <a:ext uri="{FF2B5EF4-FFF2-40B4-BE49-F238E27FC236}">
                <a16:creationId xmlns:a16="http://schemas.microsoft.com/office/drawing/2014/main" id="{F4A28B3A-9B0D-2C36-7D03-19D719511F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91" r="28391"/>
          <a:stretch/>
        </p:blipFill>
        <p:spPr>
          <a:xfrm>
            <a:off x="21" y="10"/>
            <a:ext cx="2915796" cy="68579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8C68-E2CF-7AFA-F4B4-D59FC7D19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395" y="1435609"/>
            <a:ext cx="5518894" cy="473659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CA" sz="1800" dirty="0"/>
              <a:t>while True is NEVER allowed to be used in this course! (Do not take this as literal – if you make a variable True then say while variable – this is also not allowed)</a:t>
            </a:r>
          </a:p>
          <a:p>
            <a:r>
              <a:rPr lang="en-CA" sz="1800" dirty="0"/>
              <a:t>while (True ) may be used in industry with great caution</a:t>
            </a:r>
          </a:p>
          <a:p>
            <a:r>
              <a:rPr lang="en-CA" sz="1800" dirty="0"/>
              <a:t>In industry while loops are often used in a “negative logic” context</a:t>
            </a:r>
          </a:p>
          <a:p>
            <a:r>
              <a:rPr lang="en-CA" sz="1800" dirty="0"/>
              <a:t>Assume you write code to connect to a Bluetooth device</a:t>
            </a:r>
          </a:p>
          <a:p>
            <a:r>
              <a:rPr lang="en-CA" sz="1800" dirty="0"/>
              <a:t>Assume there is a function called </a:t>
            </a:r>
            <a:r>
              <a:rPr lang="en-CA" sz="1800" err="1"/>
              <a:t>connectedToDevice</a:t>
            </a:r>
            <a:r>
              <a:rPr lang="en-CA" sz="1800" dirty="0"/>
              <a:t>() that returns True if you are connected</a:t>
            </a:r>
          </a:p>
          <a:p>
            <a:r>
              <a:rPr lang="en-CA" sz="1800" dirty="0"/>
              <a:t>In this case your code would look like this: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1800" dirty="0"/>
              <a:t>while not(</a:t>
            </a:r>
            <a:r>
              <a:rPr lang="en-CA" sz="1800" dirty="0" err="1"/>
              <a:t>connectedToDevice</a:t>
            </a:r>
            <a:r>
              <a:rPr lang="en-CA" sz="1800" dirty="0"/>
              <a:t>()):</a:t>
            </a:r>
          </a:p>
          <a:p>
            <a:pPr marL="0" indent="0">
              <a:buNone/>
            </a:pPr>
            <a:r>
              <a:rPr lang="en-CA" sz="1800" dirty="0"/>
              <a:t>	#code here to try to connect to device</a:t>
            </a:r>
          </a:p>
          <a:p>
            <a:pPr marL="0" indent="0">
              <a:buNone/>
            </a:pP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4131898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5E53-F0E7-C5F3-0AB1-F3813128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4355692"/>
            <a:ext cx="6814455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700" dirty="0"/>
              <a:t>Code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C12EF-5B1E-D1FD-1724-E22D20CA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92" y="1418490"/>
            <a:ext cx="8187348" cy="253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54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The break statement is simply the keyword -  break</a:t>
            </a:r>
          </a:p>
          <a:p>
            <a:endParaRPr lang="en-CA" dirty="0"/>
          </a:p>
          <a:p>
            <a:r>
              <a:rPr lang="en-CA" dirty="0"/>
              <a:t>Once Python encounters a break statement it will exit the loop in which it was encountered.</a:t>
            </a:r>
          </a:p>
        </p:txBody>
      </p:sp>
    </p:spTree>
    <p:extLst>
      <p:ext uri="{BB962C8B-B14F-4D97-AF65-F5344CB8AC3E}">
        <p14:creationId xmlns:p14="http://schemas.microsoft.com/office/powerpoint/2010/main" val="2757976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break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B13F8-828E-55C3-6699-BA49DFA23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957" y="2348880"/>
            <a:ext cx="6498086" cy="325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81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continue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The continue statement is simply the word – continue</a:t>
            </a:r>
          </a:p>
          <a:p>
            <a:endParaRPr lang="en-CA" dirty="0"/>
          </a:p>
          <a:p>
            <a:r>
              <a:rPr lang="en-CA" dirty="0"/>
              <a:t>When Python encounters a continue statement, the program execution immediately jumps back to the start of the loop and re-evaluates the loop’s condition statement.</a:t>
            </a:r>
          </a:p>
          <a:p>
            <a:endParaRPr lang="en-CA" dirty="0"/>
          </a:p>
          <a:p>
            <a:r>
              <a:rPr lang="en-CA" dirty="0"/>
              <a:t>The break and continue statement can only be used in while and for loops. </a:t>
            </a:r>
            <a:r>
              <a:rPr lang="en-CA" sz="1800" dirty="0"/>
              <a:t>(for loop to be studied later)</a:t>
            </a:r>
          </a:p>
        </p:txBody>
      </p:sp>
    </p:spTree>
    <p:extLst>
      <p:ext uri="{BB962C8B-B14F-4D97-AF65-F5344CB8AC3E}">
        <p14:creationId xmlns:p14="http://schemas.microsoft.com/office/powerpoint/2010/main" val="1960819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64373"/>
            <a:ext cx="2765562" cy="1920372"/>
          </a:xfrm>
        </p:spPr>
        <p:txBody>
          <a:bodyPr>
            <a:normAutofit/>
          </a:bodyPr>
          <a:lstStyle/>
          <a:p>
            <a:pPr algn="l"/>
            <a:r>
              <a:rPr lang="en-CA" sz="3100">
                <a:solidFill>
                  <a:schemeClr val="bg1"/>
                </a:solidFill>
              </a:rPr>
              <a:t>continue Statement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14350" y="2821774"/>
            <a:ext cx="2765562" cy="3148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40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85AED2D-BC55-5845-0AA0-8F5443E60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961" y="643467"/>
            <a:ext cx="3619082" cy="5571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DEAB4E-31E2-A5A0-3389-079404542D7D}"/>
              </a:ext>
            </a:extLst>
          </p:cNvPr>
          <p:cNvSpPr txBox="1"/>
          <p:nvPr/>
        </p:nvSpPr>
        <p:spPr>
          <a:xfrm>
            <a:off x="18193" y="6519446"/>
            <a:ext cx="3180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00" dirty="0"/>
              <a:t>Retrieved from: https://codeforwin.org/2017/09/continue-statement-c.html</a:t>
            </a:r>
          </a:p>
        </p:txBody>
      </p:sp>
    </p:spTree>
    <p:extLst>
      <p:ext uri="{BB962C8B-B14F-4D97-AF65-F5344CB8AC3E}">
        <p14:creationId xmlns:p14="http://schemas.microsoft.com/office/powerpoint/2010/main" val="1798391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continue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C0AA5-B0A3-665E-2D88-5276D1172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80" y="2276872"/>
            <a:ext cx="7973242" cy="361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84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 loops and the range()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The for loop used in conjunction with the range() function will cause the program to iterate (loop) over a section of code a specific number of times.</a:t>
            </a:r>
          </a:p>
        </p:txBody>
      </p:sp>
    </p:spTree>
    <p:extLst>
      <p:ext uri="{BB962C8B-B14F-4D97-AF65-F5344CB8AC3E}">
        <p14:creationId xmlns:p14="http://schemas.microsoft.com/office/powerpoint/2010/main" val="2349596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 loops and the range()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7" y="2064506"/>
            <a:ext cx="580072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9031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 loops and the range()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962150"/>
            <a:ext cx="836295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793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9294-5C36-D7BA-8C97-5E726500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Code Example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4710F-B14E-403B-95E6-6F6701F75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3" y="2031829"/>
            <a:ext cx="8927113" cy="273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89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534400" cy="1656184"/>
          </a:xfrm>
        </p:spPr>
        <p:txBody>
          <a:bodyPr>
            <a:normAutofit fontScale="90000"/>
          </a:bodyPr>
          <a:lstStyle/>
          <a:p>
            <a:r>
              <a:rPr lang="en-CA" dirty="0"/>
              <a:t>Starting, Stopping and Stepping Arguments for the range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4360" y="2132856"/>
            <a:ext cx="7955280" cy="4069080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range function can be called with multiple arguments which determine the start of the range, the end of the range, and the increments in which the count takes place.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dirty="0"/>
              <a:t>for </a:t>
            </a:r>
            <a:r>
              <a:rPr lang="en-CA" dirty="0" err="1"/>
              <a:t>i</a:t>
            </a:r>
            <a:r>
              <a:rPr lang="en-CA" dirty="0"/>
              <a:t> in range (12,16):</a:t>
            </a:r>
          </a:p>
          <a:p>
            <a:pPr marL="0" indent="0" algn="ctr">
              <a:buNone/>
            </a:pPr>
            <a:r>
              <a:rPr lang="en-CA" dirty="0"/>
              <a:t>print (</a:t>
            </a:r>
            <a:r>
              <a:rPr lang="en-CA" dirty="0" err="1"/>
              <a:t>i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sz="2200" dirty="0"/>
              <a:t>Output	:		12</a:t>
            </a:r>
          </a:p>
          <a:p>
            <a:pPr marL="0" indent="0">
              <a:buNone/>
            </a:pPr>
            <a:r>
              <a:rPr lang="en-CA" sz="2200" dirty="0"/>
              <a:t>			13</a:t>
            </a:r>
          </a:p>
          <a:p>
            <a:pPr marL="0" indent="0">
              <a:buNone/>
            </a:pPr>
            <a:r>
              <a:rPr lang="en-CA" sz="2200" dirty="0"/>
              <a:t>			14</a:t>
            </a:r>
          </a:p>
          <a:p>
            <a:pPr marL="0" indent="0">
              <a:buNone/>
            </a:pPr>
            <a:r>
              <a:rPr lang="en-CA" sz="2200" dirty="0"/>
              <a:t>			15 </a:t>
            </a:r>
          </a:p>
        </p:txBody>
      </p:sp>
      <p:sp>
        <p:nvSpPr>
          <p:cNvPr id="4" name="Oval Callout 3"/>
          <p:cNvSpPr/>
          <p:nvPr/>
        </p:nvSpPr>
        <p:spPr>
          <a:xfrm>
            <a:off x="3821754" y="2932980"/>
            <a:ext cx="1296144" cy="576064"/>
          </a:xfrm>
          <a:prstGeom prst="wedgeEllipseCallout">
            <a:avLst>
              <a:gd name="adj1" fmla="val 47718"/>
              <a:gd name="adj2" fmla="val 789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Start at</a:t>
            </a:r>
          </a:p>
        </p:txBody>
      </p:sp>
      <p:sp>
        <p:nvSpPr>
          <p:cNvPr id="5" name="Oval Callout 4"/>
          <p:cNvSpPr/>
          <p:nvPr/>
        </p:nvSpPr>
        <p:spPr>
          <a:xfrm rot="300953">
            <a:off x="5608704" y="2987229"/>
            <a:ext cx="1507697" cy="720080"/>
          </a:xfrm>
          <a:prstGeom prst="wedgeEllipseCallout">
            <a:avLst>
              <a:gd name="adj1" fmla="val -42881"/>
              <a:gd name="adj2" fmla="val 845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Up to but not including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1542141" y="3124757"/>
            <a:ext cx="1440160" cy="648072"/>
          </a:xfrm>
          <a:prstGeom prst="wedgeEllipseCallout">
            <a:avLst>
              <a:gd name="adj1" fmla="val 99764"/>
              <a:gd name="adj2" fmla="val 50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Variable called  </a:t>
            </a:r>
            <a:r>
              <a:rPr lang="en-CA" sz="1200" dirty="0" err="1"/>
              <a:t>i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3992084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534400" cy="1861904"/>
          </a:xfrm>
        </p:spPr>
        <p:txBody>
          <a:bodyPr>
            <a:normAutofit/>
          </a:bodyPr>
          <a:lstStyle/>
          <a:p>
            <a:r>
              <a:rPr lang="en-CA" dirty="0"/>
              <a:t>Starting, Stopping and Stepping Arguments for the range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4360" y="2924944"/>
            <a:ext cx="7955280" cy="37090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for </a:t>
            </a:r>
            <a:r>
              <a:rPr lang="en-CA" dirty="0" err="1"/>
              <a:t>i</a:t>
            </a:r>
            <a:r>
              <a:rPr lang="en-CA" dirty="0"/>
              <a:t> in range (0,10, 2):</a:t>
            </a:r>
          </a:p>
          <a:p>
            <a:pPr marL="0" indent="0" algn="ctr">
              <a:buNone/>
            </a:pPr>
            <a:r>
              <a:rPr lang="en-CA" dirty="0"/>
              <a:t>print (</a:t>
            </a:r>
            <a:r>
              <a:rPr lang="en-CA" dirty="0" err="1"/>
              <a:t>i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sz="2200" dirty="0"/>
              <a:t>Results in:		0</a:t>
            </a:r>
          </a:p>
          <a:p>
            <a:pPr marL="0" indent="0">
              <a:buNone/>
            </a:pPr>
            <a:r>
              <a:rPr lang="en-CA" sz="2200" dirty="0"/>
              <a:t>			2</a:t>
            </a:r>
          </a:p>
          <a:p>
            <a:pPr marL="0" indent="0">
              <a:buNone/>
            </a:pPr>
            <a:r>
              <a:rPr lang="en-CA" sz="2200" dirty="0"/>
              <a:t>			4</a:t>
            </a:r>
          </a:p>
          <a:p>
            <a:pPr marL="0" indent="0">
              <a:buNone/>
            </a:pPr>
            <a:r>
              <a:rPr lang="en-CA" sz="2200" dirty="0"/>
              <a:t>			6 </a:t>
            </a:r>
          </a:p>
          <a:p>
            <a:pPr marL="0" indent="0">
              <a:buNone/>
            </a:pPr>
            <a:r>
              <a:rPr lang="en-CA" sz="2200" dirty="0"/>
              <a:t>			8</a:t>
            </a:r>
          </a:p>
        </p:txBody>
      </p:sp>
      <p:sp>
        <p:nvSpPr>
          <p:cNvPr id="4" name="Oval Callout 3"/>
          <p:cNvSpPr/>
          <p:nvPr/>
        </p:nvSpPr>
        <p:spPr>
          <a:xfrm>
            <a:off x="3923928" y="2708920"/>
            <a:ext cx="864096" cy="432048"/>
          </a:xfrm>
          <a:prstGeom prst="wedgeEllipseCallout">
            <a:avLst>
              <a:gd name="adj1" fmla="val 77002"/>
              <a:gd name="adj2" fmla="val 984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Start value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5004048" y="2240868"/>
            <a:ext cx="1296144" cy="720080"/>
          </a:xfrm>
          <a:prstGeom prst="wedgeEllipseCallout">
            <a:avLst>
              <a:gd name="adj1" fmla="val -19502"/>
              <a:gd name="adj2" fmla="val 924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Up to but not including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6697889" y="3140968"/>
            <a:ext cx="1512168" cy="648072"/>
          </a:xfrm>
          <a:prstGeom prst="wedgeEllipseCallout">
            <a:avLst>
              <a:gd name="adj1" fmla="val -106688"/>
              <a:gd name="adj2" fmla="val 65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Step or increment value</a:t>
            </a:r>
          </a:p>
        </p:txBody>
      </p:sp>
    </p:spTree>
    <p:extLst>
      <p:ext uri="{BB962C8B-B14F-4D97-AF65-F5344CB8AC3E}">
        <p14:creationId xmlns:p14="http://schemas.microsoft.com/office/powerpoint/2010/main" val="3311107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534400" cy="1728192"/>
          </a:xfrm>
        </p:spPr>
        <p:txBody>
          <a:bodyPr>
            <a:normAutofit fontScale="90000"/>
          </a:bodyPr>
          <a:lstStyle/>
          <a:p>
            <a:r>
              <a:rPr lang="en-CA" dirty="0"/>
              <a:t>Starting, Stopping and Stepping Arguments for the range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4360" y="2780928"/>
            <a:ext cx="7955280" cy="3482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for </a:t>
            </a:r>
            <a:r>
              <a:rPr lang="en-CA" dirty="0" err="1"/>
              <a:t>i</a:t>
            </a:r>
            <a:r>
              <a:rPr lang="en-CA" dirty="0"/>
              <a:t> in range (5,-1, -1):</a:t>
            </a:r>
          </a:p>
          <a:p>
            <a:pPr marL="0" indent="0" algn="ctr">
              <a:buNone/>
            </a:pPr>
            <a:r>
              <a:rPr lang="en-CA" dirty="0"/>
              <a:t>print (</a:t>
            </a:r>
            <a:r>
              <a:rPr lang="en-CA" dirty="0" err="1"/>
              <a:t>i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sz="2200" dirty="0"/>
              <a:t>Results in:		5</a:t>
            </a:r>
          </a:p>
          <a:p>
            <a:pPr marL="0" indent="0">
              <a:buNone/>
            </a:pPr>
            <a:r>
              <a:rPr lang="en-CA" sz="2200" dirty="0"/>
              <a:t>			4</a:t>
            </a:r>
          </a:p>
          <a:p>
            <a:pPr marL="0" indent="0">
              <a:buNone/>
            </a:pPr>
            <a:r>
              <a:rPr lang="en-CA" sz="2200" dirty="0"/>
              <a:t>			3</a:t>
            </a:r>
          </a:p>
          <a:p>
            <a:pPr marL="0" indent="0">
              <a:buNone/>
            </a:pPr>
            <a:r>
              <a:rPr lang="en-CA" sz="2200" dirty="0"/>
              <a:t>			2 </a:t>
            </a:r>
          </a:p>
          <a:p>
            <a:pPr marL="0" indent="0">
              <a:buNone/>
            </a:pPr>
            <a:r>
              <a:rPr lang="en-CA" sz="2200" dirty="0"/>
              <a:t>			1</a:t>
            </a:r>
          </a:p>
          <a:p>
            <a:pPr marL="0" indent="0">
              <a:buNone/>
            </a:pPr>
            <a:r>
              <a:rPr lang="en-CA" sz="2200" dirty="0"/>
              <a:t>			0</a:t>
            </a:r>
          </a:p>
        </p:txBody>
      </p:sp>
      <p:sp>
        <p:nvSpPr>
          <p:cNvPr id="4" name="Oval Callout 3"/>
          <p:cNvSpPr/>
          <p:nvPr/>
        </p:nvSpPr>
        <p:spPr>
          <a:xfrm>
            <a:off x="3740665" y="2456892"/>
            <a:ext cx="864096" cy="432048"/>
          </a:xfrm>
          <a:prstGeom prst="wedgeEllipseCallout">
            <a:avLst>
              <a:gd name="adj1" fmla="val 77002"/>
              <a:gd name="adj2" fmla="val 984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Start value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4932040" y="2024844"/>
            <a:ext cx="1296144" cy="720080"/>
          </a:xfrm>
          <a:prstGeom prst="wedgeEllipseCallout">
            <a:avLst>
              <a:gd name="adj1" fmla="val -19502"/>
              <a:gd name="adj2" fmla="val 924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Up to but not including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6444208" y="2911847"/>
            <a:ext cx="1296144" cy="648072"/>
          </a:xfrm>
          <a:prstGeom prst="wedgeEllipseCallout">
            <a:avLst>
              <a:gd name="adj1" fmla="val -106688"/>
              <a:gd name="adj2" fmla="val 65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Step or increment value</a:t>
            </a:r>
          </a:p>
        </p:txBody>
      </p:sp>
    </p:spTree>
    <p:extLst>
      <p:ext uri="{BB962C8B-B14F-4D97-AF65-F5344CB8AC3E}">
        <p14:creationId xmlns:p14="http://schemas.microsoft.com/office/powerpoint/2010/main" val="1793421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9294-5C36-D7BA-8C97-5E726500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Code Example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4710F-B14E-403B-95E6-6F6701F75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3" y="2031829"/>
            <a:ext cx="8927113" cy="273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5320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9829</TotalTime>
  <Words>1260</Words>
  <Application>Microsoft Office PowerPoint</Application>
  <PresentationFormat>On-screen Show (4:3)</PresentationFormat>
  <Paragraphs>200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Cambria</vt:lpstr>
      <vt:lpstr>Century Gothic</vt:lpstr>
      <vt:lpstr>Vapor Trail</vt:lpstr>
      <vt:lpstr>COMP 1112  Document Automation using python</vt:lpstr>
      <vt:lpstr>Strategies of a successful student</vt:lpstr>
      <vt:lpstr>Communicating with the instructor</vt:lpstr>
      <vt:lpstr>Review</vt:lpstr>
      <vt:lpstr>Flow Control</vt:lpstr>
      <vt:lpstr>Boolean Values</vt:lpstr>
      <vt:lpstr>Comparison Operators</vt:lpstr>
      <vt:lpstr>Comparison Operators</vt:lpstr>
      <vt:lpstr>Comparison Operator Examples</vt:lpstr>
      <vt:lpstr>Boolean Operators</vt:lpstr>
      <vt:lpstr>Boolean Operators</vt:lpstr>
      <vt:lpstr>Elements of Flow Control</vt:lpstr>
      <vt:lpstr>if Statement</vt:lpstr>
      <vt:lpstr>else Statement</vt:lpstr>
      <vt:lpstr>else Statement</vt:lpstr>
      <vt:lpstr>elif Statement</vt:lpstr>
      <vt:lpstr>Elif statement</vt:lpstr>
      <vt:lpstr>elif Statement</vt:lpstr>
      <vt:lpstr>while Loop</vt:lpstr>
      <vt:lpstr>while Loop</vt:lpstr>
      <vt:lpstr>While Loop – Negative Logic</vt:lpstr>
      <vt:lpstr>Code Example</vt:lpstr>
      <vt:lpstr>break Statement</vt:lpstr>
      <vt:lpstr>break Statement</vt:lpstr>
      <vt:lpstr>continue Statement</vt:lpstr>
      <vt:lpstr>continue Statement</vt:lpstr>
      <vt:lpstr>continue Statement</vt:lpstr>
      <vt:lpstr>for loops and the range() function</vt:lpstr>
      <vt:lpstr>for loops and the range() function</vt:lpstr>
      <vt:lpstr>for loops and the range() function</vt:lpstr>
      <vt:lpstr>Code Example</vt:lpstr>
      <vt:lpstr>Starting, Stopping and Stepping Arguments for the range function</vt:lpstr>
      <vt:lpstr>Starting, Stopping and Stepping Arguments for the range function</vt:lpstr>
      <vt:lpstr>Starting, Stopping and Stepping Arguments for the range function</vt:lpstr>
      <vt:lpstr>Code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wayne brown</cp:lastModifiedBy>
  <cp:revision>219</cp:revision>
  <dcterms:created xsi:type="dcterms:W3CDTF">2018-09-05T00:56:20Z</dcterms:created>
  <dcterms:modified xsi:type="dcterms:W3CDTF">2026-01-08T00:01:42Z</dcterms:modified>
</cp:coreProperties>
</file>